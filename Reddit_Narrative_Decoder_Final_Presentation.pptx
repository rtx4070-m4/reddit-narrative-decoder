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3" d="100"/>
          <a:sy n="73" d="100"/>
        </p:scale>
        <p:origin x="104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8830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as a computational comparison of sentiment/emotion outputs, linguistic signals, and candidate topic structures across four Reddit communities. Emphasize that model outputs are algorithmic estimates, not psychological diagnoses.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uses NLP to structure exploratory comparisons across communities. Its contribution is not a psychological diagnosis or a causal explanation of online behaviour.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documented objectives. Do not introduce formal hypotheses or questions that were not included in the research documents.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master corpus has 4,972 records, the processed NLP/Phase 8 corpus 4,874, and the topic/temporal corpus 4,026. The 848-record difference is unresolved; separately, 98 master records are absent from processed NLP. Do not conflate the denominators.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workflow at a high level. This diagram is conceptual and should not be read as a claim that every stage directly feeds every subsequent stage. Existing saved outputs were audited rather than retraining models for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Agreement is highest in gaming and lowest in science. Cohen's kappa ranges from 0.191 to 0.346. Neither model is a ground-truth emotional labeler, so agreement cannot be interpreted as accuracy.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emotion-label distribution test has chi-square 87.778, df 18, p approximately 3.61 × 10^-11, Cramér's V 0.07748, N=4,874. The source report calls this a small/negligible effect. Emphasize both the p-value and effect size.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reports document NMF and Semantic K-means in the temporal topic outputs. Topic labels are interpretive summaries. The quality audit reported no missing labels or exact duplicates, and two lexically similar pairs. Do not claim semantic validity solely from automated clusters.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dictionary contains 40 groups: 35 recorded as accept and five as do_not_label. Do not present the five excluded groups as accepted labels. Batch approval is not equivalent to independent example-level human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uploaded reproduction tables contain 25 PASS rows out of 25 Kruskal-Wallis tests and 150 PASS rows out of 150 pairwise tests. The saved results flag 22/25 omnibus and 91/150 pairwise tests as significant after Holm adjustment. These checks establish calculation consistency against saved inputs, not accuracy or causality.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topic/temporal corpus contains 4,026 unique IDs spanning 31 October 2014 to 17 February 2016. Only 10 of 17 calendar months have records; seven are empty. February 2016 contains 3,899 records (96.85%). Monthly counts describe the available corpus, not Reddit-wide activity. The evidence does not support a strong continuous narrative-evolution claim.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Separate what is observed from what is inferred. The strongest contribution is a reproducible analysis with explicit statistical and data-quality audits. The project does not claim causal effects or robust continuous narrative evolution.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proposed next steps, not completed tasks. Preserve the corpus mismatch and topic-label validation limitations in any written or oral description of the work.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Conclude that the project demonstrates an integrated computational workflow with reproducible statistical audits and transparent limits. Thank the audience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F37"/>
        </a:solidFill>
        <a:effectLst/>
      </p:bgPr>
    </p:bg>
    <p:spTree>
      <p:nvGrpSpPr>
        <p:cNvPr id="1" name=""/>
        <p:cNvGrpSpPr/>
        <p:nvPr/>
      </p:nvGrpSpPr>
      <p:grpSpPr>
        <a:xfrm>
          <a:off x="0" y="0"/>
          <a:ext cx="0" cy="0"/>
          <a:chOff x="0" y="0"/>
          <a:chExt cx="0" cy="0"/>
        </a:xfrm>
      </p:grpSpPr>
      <p:sp>
        <p:nvSpPr>
          <p:cNvPr id="2" name="Rounded Rectangle 1"/>
          <p:cNvSpPr/>
          <p:nvPr/>
        </p:nvSpPr>
        <p:spPr>
          <a:xfrm>
            <a:off x="7955279" y="1005840"/>
            <a:ext cx="3200400" cy="91440"/>
          </a:xfrm>
          <a:prstGeom prst="round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412480" y="1417320"/>
            <a:ext cx="2560320" cy="91440"/>
          </a:xfrm>
          <a:prstGeom prst="round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498079" y="1828800"/>
            <a:ext cx="3657600" cy="91440"/>
          </a:xfrm>
          <a:prstGeom prst="round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778240" y="2240280"/>
            <a:ext cx="2194560" cy="91440"/>
          </a:xfrm>
          <a:prstGeom prst="round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46720" y="2651760"/>
            <a:ext cx="2926080" cy="91440"/>
          </a:xfrm>
          <a:prstGeom prst="round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0" y="3337560"/>
            <a:ext cx="1737360" cy="1737360"/>
          </a:xfrm>
          <a:prstGeom prst="ellipse">
            <a:avLst/>
          </a:prstGeom>
          <a:solidFill>
            <a:srgbClr val="182F4D"/>
          </a:solidFill>
          <a:ln>
            <a:solidFill>
              <a:srgbClr val="1CB3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62288" y="3813048"/>
            <a:ext cx="786384" cy="786384"/>
          </a:xfrm>
          <a:prstGeom prst="ellipse">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58368"/>
            <a:ext cx="5029200" cy="274320"/>
          </a:xfrm>
          <a:prstGeom prst="rect">
            <a:avLst/>
          </a:prstGeom>
          <a:noFill/>
        </p:spPr>
        <p:txBody>
          <a:bodyPr wrap="square" lIns="36576" tIns="36576" rIns="36576" bIns="36576" anchor="t">
            <a:spAutoFit/>
          </a:bodyPr>
          <a:lstStyle/>
          <a:p>
            <a:pPr algn="l">
              <a:spcAft>
                <a:spcPts val="0"/>
              </a:spcAft>
            </a:pPr>
            <a:r>
              <a:rPr sz="1100" b="1" i="0">
                <a:solidFill>
                  <a:srgbClr val="61D3CA"/>
                </a:solidFill>
                <a:latin typeface="Aptos"/>
              </a:rPr>
              <a:t>RESEARCH PRESENTATION</a:t>
            </a:r>
          </a:p>
        </p:txBody>
      </p:sp>
      <p:sp>
        <p:nvSpPr>
          <p:cNvPr id="10" name="TextBox 9"/>
          <p:cNvSpPr txBox="1"/>
          <p:nvPr/>
        </p:nvSpPr>
        <p:spPr>
          <a:xfrm>
            <a:off x="777240" y="1325880"/>
            <a:ext cx="7498079" cy="2057400"/>
          </a:xfrm>
          <a:prstGeom prst="rect">
            <a:avLst/>
          </a:prstGeom>
          <a:noFill/>
        </p:spPr>
        <p:txBody>
          <a:bodyPr wrap="square" lIns="36576" tIns="36576" rIns="36576" bIns="36576" anchor="t">
            <a:spAutoFit/>
          </a:bodyPr>
          <a:lstStyle/>
          <a:p>
            <a:pPr algn="l">
              <a:spcAft>
                <a:spcPts val="0"/>
              </a:spcAft>
            </a:pPr>
            <a:r>
              <a:rPr sz="2900" b="1" i="0">
                <a:solidFill>
                  <a:srgbClr val="FFFFFF"/>
                </a:solidFill>
                <a:latin typeface="Aptos"/>
              </a:rPr>
              <a:t>Computational Analysis of Emotional Expression,
Psychological Language, and Narrative Evolution
in Reddit Communities</a:t>
            </a:r>
          </a:p>
        </p:txBody>
      </p:sp>
      <p:sp>
        <p:nvSpPr>
          <p:cNvPr id="11" name="TextBox 10"/>
          <p:cNvSpPr txBox="1"/>
          <p:nvPr/>
        </p:nvSpPr>
        <p:spPr>
          <a:xfrm>
            <a:off x="804672" y="3703320"/>
            <a:ext cx="5852160" cy="411480"/>
          </a:xfrm>
          <a:prstGeom prst="rect">
            <a:avLst/>
          </a:prstGeom>
          <a:noFill/>
        </p:spPr>
        <p:txBody>
          <a:bodyPr wrap="square" lIns="36576" tIns="36576" rIns="36576" bIns="36576" anchor="t">
            <a:spAutoFit/>
          </a:bodyPr>
          <a:lstStyle/>
          <a:p>
            <a:pPr algn="l">
              <a:spcAft>
                <a:spcPts val="0"/>
              </a:spcAft>
            </a:pPr>
            <a:r>
              <a:rPr sz="1800" b="1" i="0">
                <a:solidFill>
                  <a:srgbClr val="1CB3A6"/>
                </a:solidFill>
                <a:latin typeface="Aptos"/>
              </a:rPr>
              <a:t>REDDIT NARRATIVE DECODER</a:t>
            </a:r>
          </a:p>
        </p:txBody>
      </p:sp>
      <p:sp>
        <p:nvSpPr>
          <p:cNvPr id="12" name="TextBox 11"/>
          <p:cNvSpPr txBox="1"/>
          <p:nvPr/>
        </p:nvSpPr>
        <p:spPr>
          <a:xfrm>
            <a:off x="804672" y="4617720"/>
            <a:ext cx="6035040" cy="504754"/>
          </a:xfrm>
          <a:prstGeom prst="rect">
            <a:avLst/>
          </a:prstGeom>
          <a:noFill/>
        </p:spPr>
        <p:txBody>
          <a:bodyPr wrap="square" lIns="36576" tIns="36576" rIns="36576" bIns="36576" anchor="t">
            <a:spAutoFit/>
          </a:bodyPr>
          <a:lstStyle/>
          <a:p>
            <a:pPr algn="l">
              <a:spcAft>
                <a:spcPts val="0"/>
              </a:spcAft>
            </a:pPr>
            <a:r>
              <a:rPr sz="1400" b="0" i="0" dirty="0">
                <a:solidFill>
                  <a:srgbClr val="CCDAE7"/>
                </a:solidFill>
                <a:latin typeface="Aptos"/>
              </a:rPr>
              <a:t>Presenter: [</a:t>
            </a:r>
            <a:r>
              <a:rPr lang="en-IN" sz="1400" dirty="0">
                <a:solidFill>
                  <a:srgbClr val="CCDAE7"/>
                </a:solidFill>
                <a:latin typeface="Aptos"/>
              </a:rPr>
              <a:t>TANUJ</a:t>
            </a:r>
            <a:r>
              <a:rPr sz="1400" b="0" i="0" dirty="0">
                <a:solidFill>
                  <a:srgbClr val="CCDAE7"/>
                </a:solidFill>
                <a:latin typeface="Aptos"/>
              </a:rPr>
              <a:t>]   •   Institution: [</a:t>
            </a:r>
            <a:r>
              <a:rPr lang="en-IN" sz="1400" dirty="0">
                <a:solidFill>
                  <a:srgbClr val="CCDAE7"/>
                </a:solidFill>
                <a:latin typeface="Aptos"/>
              </a:rPr>
              <a:t>IIT ROPAR &amp; IIM AMRITSAR</a:t>
            </a:r>
            <a:r>
              <a:rPr sz="1400" b="0" i="0" dirty="0">
                <a:solidFill>
                  <a:srgbClr val="CCDAE7"/>
                </a:solidFill>
                <a:latin typeface="Aptos"/>
              </a:rPr>
              <a:t>]
Date: [</a:t>
            </a:r>
            <a:r>
              <a:rPr lang="en-IN" sz="1400" dirty="0">
                <a:solidFill>
                  <a:srgbClr val="CCDAE7"/>
                </a:solidFill>
                <a:latin typeface="Aptos"/>
              </a:rPr>
              <a:t>10/10/26</a:t>
            </a:r>
            <a:r>
              <a:rPr sz="1400" b="0" i="0" dirty="0">
                <a:solidFill>
                  <a:srgbClr val="CCDAE7"/>
                </a:solidFill>
                <a:latin typeface="Aptos"/>
              </a:rPr>
              <a:t>]</a:t>
            </a:r>
          </a:p>
        </p:txBody>
      </p:sp>
      <p:sp>
        <p:nvSpPr>
          <p:cNvPr id="13" name="TextBox 12"/>
          <p:cNvSpPr txBox="1"/>
          <p:nvPr/>
        </p:nvSpPr>
        <p:spPr>
          <a:xfrm>
            <a:off x="804672" y="5742432"/>
            <a:ext cx="6858000" cy="320040"/>
          </a:xfrm>
          <a:prstGeom prst="rect">
            <a:avLst/>
          </a:prstGeom>
          <a:noFill/>
        </p:spPr>
        <p:txBody>
          <a:bodyPr wrap="square" lIns="36576" tIns="36576" rIns="36576" bIns="36576" anchor="t">
            <a:spAutoFit/>
          </a:bodyPr>
          <a:lstStyle/>
          <a:p>
            <a:pPr algn="l">
              <a:spcAft>
                <a:spcPts val="0"/>
              </a:spcAft>
            </a:pPr>
            <a:r>
              <a:rPr sz="1200" b="0" i="1">
                <a:solidFill>
                  <a:srgbClr val="ADC0D1"/>
                </a:solidFill>
                <a:latin typeface="Aptos"/>
              </a:rPr>
              <a:t>An integrated, reproducibility-aware analysis of online discussion</a:t>
            </a:r>
          </a:p>
        </p:txBody>
      </p:sp>
      <p:sp>
        <p:nvSpPr>
          <p:cNvPr id="14" name="TextBox 1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ABBECF"/>
                </a:solidFill>
                <a:latin typeface="Aptos"/>
              </a:rPr>
              <a:t>REDDIT NARRATIVE DECODER  •  RESEARCH PRESENTATION</a:t>
            </a:r>
          </a:p>
        </p:txBody>
      </p:sp>
      <p:sp>
        <p:nvSpPr>
          <p:cNvPr id="15" name="TextBox 1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ABBECF"/>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MOTIVATION</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Why analyse online discussions?</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02</a:t>
            </a:r>
          </a:p>
        </p:txBody>
      </p:sp>
      <p:sp>
        <p:nvSpPr>
          <p:cNvPr id="6" name="Rounded Rectangle 5"/>
          <p:cNvSpPr/>
          <p:nvPr/>
        </p:nvSpPr>
        <p:spPr>
          <a:xfrm>
            <a:off x="685800" y="1600200"/>
            <a:ext cx="342900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600200"/>
            <a:ext cx="73152" cy="1828800"/>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55648"/>
            <a:ext cx="3063240"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Scale</a:t>
            </a:r>
          </a:p>
        </p:txBody>
      </p:sp>
      <p:sp>
        <p:nvSpPr>
          <p:cNvPr id="9" name="TextBox 8"/>
          <p:cNvSpPr txBox="1"/>
          <p:nvPr/>
        </p:nvSpPr>
        <p:spPr>
          <a:xfrm>
            <a:off x="886968" y="2167128"/>
            <a:ext cx="3063240" cy="111556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Online communities produce large volumes of user-generated text that are difficult to review manually.</a:t>
            </a:r>
          </a:p>
        </p:txBody>
      </p:sp>
      <p:sp>
        <p:nvSpPr>
          <p:cNvPr id="10" name="Rounded Rectangle 9"/>
          <p:cNvSpPr/>
          <p:nvPr/>
        </p:nvSpPr>
        <p:spPr>
          <a:xfrm>
            <a:off x="4389120" y="1600200"/>
            <a:ext cx="342900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600200"/>
            <a:ext cx="73152" cy="182880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755648"/>
            <a:ext cx="3063240"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Multiple signals</a:t>
            </a:r>
          </a:p>
        </p:txBody>
      </p:sp>
      <p:sp>
        <p:nvSpPr>
          <p:cNvPr id="13" name="TextBox 12"/>
          <p:cNvSpPr txBox="1"/>
          <p:nvPr/>
        </p:nvSpPr>
        <p:spPr>
          <a:xfrm>
            <a:off x="4590288" y="2167128"/>
            <a:ext cx="3063240" cy="111556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Sentiment, emotion labels, linguistic features, and topics offer complementary views of text.</a:t>
            </a:r>
          </a:p>
        </p:txBody>
      </p:sp>
      <p:sp>
        <p:nvSpPr>
          <p:cNvPr id="14" name="Rounded Rectangle 13"/>
          <p:cNvSpPr/>
          <p:nvPr/>
        </p:nvSpPr>
        <p:spPr>
          <a:xfrm>
            <a:off x="8092440" y="1600200"/>
            <a:ext cx="342900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600200"/>
            <a:ext cx="73152" cy="1828800"/>
          </a:xfrm>
          <a:prstGeom prst="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755648"/>
            <a:ext cx="3063240"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Responsible interpretation</a:t>
            </a:r>
          </a:p>
        </p:txBody>
      </p:sp>
      <p:sp>
        <p:nvSpPr>
          <p:cNvPr id="17" name="TextBox 16"/>
          <p:cNvSpPr txBox="1"/>
          <p:nvPr/>
        </p:nvSpPr>
        <p:spPr>
          <a:xfrm>
            <a:off x="8293608" y="2167128"/>
            <a:ext cx="3063240" cy="111556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Model outputs are signals for exploratory research—not direct measurements of a person's inner state.</a:t>
            </a:r>
          </a:p>
        </p:txBody>
      </p:sp>
      <p:sp>
        <p:nvSpPr>
          <p:cNvPr id="18" name="TextBox 17"/>
          <p:cNvSpPr txBox="1"/>
          <p:nvPr/>
        </p:nvSpPr>
        <p:spPr>
          <a:xfrm>
            <a:off x="749808" y="4069080"/>
            <a:ext cx="192024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Project focus</a:t>
            </a:r>
          </a:p>
        </p:txBody>
      </p:sp>
      <p:sp>
        <p:nvSpPr>
          <p:cNvPr id="19" name="TextBox 18"/>
          <p:cNvSpPr txBox="1"/>
          <p:nvPr/>
        </p:nvSpPr>
        <p:spPr>
          <a:xfrm>
            <a:off x="804672" y="4498848"/>
            <a:ext cx="10515600" cy="1325880"/>
          </a:xfrm>
          <a:prstGeom prst="rect">
            <a:avLst/>
          </a:prstGeom>
          <a:noFill/>
        </p:spPr>
        <p:txBody>
          <a:bodyPr wrap="square" lIns="27432" tIns="18288" rIns="27432" bIns="18288">
            <a:spAutoFit/>
          </a:bodyPr>
          <a:lstStyle/>
          <a:p>
            <a:pPr>
              <a:spcAft>
                <a:spcPts val="800"/>
              </a:spcAft>
              <a:defRPr sz="1700">
                <a:solidFill>
                  <a:srgbClr val="1E2B3B"/>
                </a:solidFill>
                <a:latin typeface="Aptos"/>
              </a:defRPr>
            </a:pPr>
            <a:r>
              <a:t>•  Compare patterns across gaming, science, todayilearned, and worldnews.</a:t>
            </a:r>
          </a:p>
          <a:p>
            <a:pPr>
              <a:spcAft>
                <a:spcPts val="800"/>
              </a:spcAft>
              <a:defRPr sz="1700">
                <a:solidFill>
                  <a:srgbClr val="1E2B3B"/>
                </a:solidFill>
                <a:latin typeface="Aptos"/>
              </a:defRPr>
            </a:pPr>
            <a:r>
              <a:t>•  Audit statistical calculations and document data-quality limitations.</a:t>
            </a:r>
          </a:p>
          <a:p>
            <a:pPr>
              <a:spcAft>
                <a:spcPts val="800"/>
              </a:spcAft>
              <a:defRPr sz="1700">
                <a:solidFill>
                  <a:srgbClr val="1E2B3B"/>
                </a:solidFill>
                <a:latin typeface="Aptos"/>
              </a:defRPr>
            </a:pPr>
            <a:r>
              <a:t>•  Evaluate whether the available temporal coverage supports narrative-evolution claims.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QUESTIONS AND SCOPE</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Research objectives</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03</a:t>
            </a:r>
          </a:p>
        </p:txBody>
      </p:sp>
      <p:sp>
        <p:nvSpPr>
          <p:cNvPr id="6" name="Oval 5"/>
          <p:cNvSpPr/>
          <p:nvPr/>
        </p:nvSpPr>
        <p:spPr>
          <a:xfrm>
            <a:off x="804672" y="1481328"/>
            <a:ext cx="502920" cy="502920"/>
          </a:xfrm>
          <a:prstGeom prst="ellipse">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600200"/>
            <a:ext cx="420624" cy="182880"/>
          </a:xfrm>
          <a:prstGeom prst="rect">
            <a:avLst/>
          </a:prstGeom>
          <a:noFill/>
        </p:spPr>
        <p:txBody>
          <a:bodyPr wrap="square" lIns="36576" tIns="36576" rIns="36576" bIns="36576" anchor="t">
            <a:spAutoFit/>
          </a:bodyPr>
          <a:lstStyle/>
          <a:p>
            <a:pPr algn="ctr">
              <a:spcAft>
                <a:spcPts val="0"/>
              </a:spcAft>
            </a:pPr>
            <a:r>
              <a:rPr sz="1000" b="1" i="0">
                <a:solidFill>
                  <a:srgbClr val="101F37"/>
                </a:solidFill>
                <a:latin typeface="Aptos"/>
              </a:rPr>
              <a:t>01</a:t>
            </a:r>
          </a:p>
        </p:txBody>
      </p:sp>
      <p:sp>
        <p:nvSpPr>
          <p:cNvPr id="8" name="TextBox 7"/>
          <p:cNvSpPr txBox="1"/>
          <p:nvPr/>
        </p:nvSpPr>
        <p:spPr>
          <a:xfrm>
            <a:off x="1572768" y="1499616"/>
            <a:ext cx="155448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Characterize</a:t>
            </a:r>
          </a:p>
        </p:txBody>
      </p:sp>
      <p:sp>
        <p:nvSpPr>
          <p:cNvPr id="9" name="TextBox 8"/>
          <p:cNvSpPr txBox="1"/>
          <p:nvPr/>
        </p:nvSpPr>
        <p:spPr>
          <a:xfrm>
            <a:off x="3246120" y="1499616"/>
            <a:ext cx="7863840" cy="429768"/>
          </a:xfrm>
          <a:prstGeom prst="rect">
            <a:avLst/>
          </a:prstGeom>
          <a:noFill/>
        </p:spPr>
        <p:txBody>
          <a:bodyPr wrap="square" lIns="36576" tIns="36576" rIns="36576" bIns="36576" anchor="t">
            <a:spAutoFit/>
          </a:bodyPr>
          <a:lstStyle/>
          <a:p>
            <a:pPr algn="l">
              <a:spcAft>
                <a:spcPts val="0"/>
              </a:spcAft>
            </a:pPr>
            <a:r>
              <a:rPr sz="1500" b="0" i="0">
                <a:solidFill>
                  <a:srgbClr val="5E6F82"/>
                </a:solidFill>
                <a:latin typeface="Aptos"/>
              </a:rPr>
              <a:t>Sentiment/emotion outputs and linguistic signals across four communities.</a:t>
            </a:r>
          </a:p>
        </p:txBody>
      </p:sp>
      <p:sp>
        <p:nvSpPr>
          <p:cNvPr id="10" name="Oval 9"/>
          <p:cNvSpPr/>
          <p:nvPr/>
        </p:nvSpPr>
        <p:spPr>
          <a:xfrm>
            <a:off x="804672" y="2340864"/>
            <a:ext cx="502920" cy="502920"/>
          </a:xfrm>
          <a:prstGeom prst="ellipse">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459736"/>
            <a:ext cx="420624" cy="182880"/>
          </a:xfrm>
          <a:prstGeom prst="rect">
            <a:avLst/>
          </a:prstGeom>
          <a:noFill/>
        </p:spPr>
        <p:txBody>
          <a:bodyPr wrap="square" lIns="36576" tIns="36576" rIns="36576" bIns="36576" anchor="t">
            <a:spAutoFit/>
          </a:bodyPr>
          <a:lstStyle/>
          <a:p>
            <a:pPr algn="ctr">
              <a:spcAft>
                <a:spcPts val="0"/>
              </a:spcAft>
            </a:pPr>
            <a:r>
              <a:rPr sz="1000" b="1" i="0">
                <a:solidFill>
                  <a:srgbClr val="101F37"/>
                </a:solidFill>
                <a:latin typeface="Aptos"/>
              </a:rPr>
              <a:t>02</a:t>
            </a:r>
          </a:p>
        </p:txBody>
      </p:sp>
      <p:sp>
        <p:nvSpPr>
          <p:cNvPr id="12" name="TextBox 11"/>
          <p:cNvSpPr txBox="1"/>
          <p:nvPr/>
        </p:nvSpPr>
        <p:spPr>
          <a:xfrm>
            <a:off x="1572768" y="2359152"/>
            <a:ext cx="155448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Compare</a:t>
            </a:r>
          </a:p>
        </p:txBody>
      </p:sp>
      <p:sp>
        <p:nvSpPr>
          <p:cNvPr id="13" name="TextBox 12"/>
          <p:cNvSpPr txBox="1"/>
          <p:nvPr/>
        </p:nvSpPr>
        <p:spPr>
          <a:xfrm>
            <a:off x="3246120" y="2359152"/>
            <a:ext cx="7863840" cy="429768"/>
          </a:xfrm>
          <a:prstGeom prst="rect">
            <a:avLst/>
          </a:prstGeom>
          <a:noFill/>
        </p:spPr>
        <p:txBody>
          <a:bodyPr wrap="square" lIns="36576" tIns="36576" rIns="36576" bIns="36576" anchor="t">
            <a:spAutoFit/>
          </a:bodyPr>
          <a:lstStyle/>
          <a:p>
            <a:pPr algn="l">
              <a:spcAft>
                <a:spcPts val="0"/>
              </a:spcAft>
            </a:pPr>
            <a:r>
              <a:rPr sz="1500" b="0" i="0">
                <a:solidFill>
                  <a:srgbClr val="5E6F82"/>
                </a:solidFill>
                <a:latin typeface="Aptos"/>
              </a:rPr>
              <a:t>Emotion-label patterns and agreement between VADER and a transformer model.</a:t>
            </a:r>
          </a:p>
        </p:txBody>
      </p:sp>
      <p:sp>
        <p:nvSpPr>
          <p:cNvPr id="14" name="Oval 13"/>
          <p:cNvSpPr/>
          <p:nvPr/>
        </p:nvSpPr>
        <p:spPr>
          <a:xfrm>
            <a:off x="804672" y="3200400"/>
            <a:ext cx="502920" cy="502920"/>
          </a:xfrm>
          <a:prstGeom prst="ellipse">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3319272"/>
            <a:ext cx="420624" cy="182880"/>
          </a:xfrm>
          <a:prstGeom prst="rect">
            <a:avLst/>
          </a:prstGeom>
          <a:noFill/>
        </p:spPr>
        <p:txBody>
          <a:bodyPr wrap="square" lIns="36576" tIns="36576" rIns="36576" bIns="36576" anchor="t">
            <a:spAutoFit/>
          </a:bodyPr>
          <a:lstStyle/>
          <a:p>
            <a:pPr algn="ctr">
              <a:spcAft>
                <a:spcPts val="0"/>
              </a:spcAft>
            </a:pPr>
            <a:r>
              <a:rPr sz="1000" b="1" i="0">
                <a:solidFill>
                  <a:srgbClr val="101F37"/>
                </a:solidFill>
                <a:latin typeface="Aptos"/>
              </a:rPr>
              <a:t>03</a:t>
            </a:r>
          </a:p>
        </p:txBody>
      </p:sp>
      <p:sp>
        <p:nvSpPr>
          <p:cNvPr id="16" name="TextBox 15"/>
          <p:cNvSpPr txBox="1"/>
          <p:nvPr/>
        </p:nvSpPr>
        <p:spPr>
          <a:xfrm>
            <a:off x="1572768" y="3218688"/>
            <a:ext cx="155448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Explore</a:t>
            </a:r>
          </a:p>
        </p:txBody>
      </p:sp>
      <p:sp>
        <p:nvSpPr>
          <p:cNvPr id="17" name="TextBox 16"/>
          <p:cNvSpPr txBox="1"/>
          <p:nvPr/>
        </p:nvSpPr>
        <p:spPr>
          <a:xfrm>
            <a:off x="3246120" y="3218688"/>
            <a:ext cx="7863840" cy="429768"/>
          </a:xfrm>
          <a:prstGeom prst="rect">
            <a:avLst/>
          </a:prstGeom>
          <a:noFill/>
        </p:spPr>
        <p:txBody>
          <a:bodyPr wrap="square" lIns="36576" tIns="36576" rIns="36576" bIns="36576" anchor="t">
            <a:spAutoFit/>
          </a:bodyPr>
          <a:lstStyle/>
          <a:p>
            <a:pPr algn="l">
              <a:spcAft>
                <a:spcPts val="0"/>
              </a:spcAft>
            </a:pPr>
            <a:r>
              <a:rPr sz="1500" b="0" i="0">
                <a:solidFill>
                  <a:srgbClr val="5E6F82"/>
                </a:solidFill>
                <a:latin typeface="Aptos"/>
              </a:rPr>
              <a:t>Candidate themes with topic modelling and audit their labels.</a:t>
            </a:r>
          </a:p>
        </p:txBody>
      </p:sp>
      <p:sp>
        <p:nvSpPr>
          <p:cNvPr id="18" name="Oval 17"/>
          <p:cNvSpPr/>
          <p:nvPr/>
        </p:nvSpPr>
        <p:spPr>
          <a:xfrm>
            <a:off x="804672" y="4059935"/>
            <a:ext cx="502920" cy="502920"/>
          </a:xfrm>
          <a:prstGeom prst="ellipse">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4178807"/>
            <a:ext cx="420624" cy="182880"/>
          </a:xfrm>
          <a:prstGeom prst="rect">
            <a:avLst/>
          </a:prstGeom>
          <a:noFill/>
        </p:spPr>
        <p:txBody>
          <a:bodyPr wrap="square" lIns="36576" tIns="36576" rIns="36576" bIns="36576" anchor="t">
            <a:spAutoFit/>
          </a:bodyPr>
          <a:lstStyle/>
          <a:p>
            <a:pPr algn="ctr">
              <a:spcAft>
                <a:spcPts val="0"/>
              </a:spcAft>
            </a:pPr>
            <a:r>
              <a:rPr sz="1000" b="1" i="0">
                <a:solidFill>
                  <a:srgbClr val="101F37"/>
                </a:solidFill>
                <a:latin typeface="Aptos"/>
              </a:rPr>
              <a:t>04</a:t>
            </a:r>
          </a:p>
        </p:txBody>
      </p:sp>
      <p:sp>
        <p:nvSpPr>
          <p:cNvPr id="20" name="TextBox 19"/>
          <p:cNvSpPr txBox="1"/>
          <p:nvPr/>
        </p:nvSpPr>
        <p:spPr>
          <a:xfrm>
            <a:off x="1572768" y="4078223"/>
            <a:ext cx="155448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Assess</a:t>
            </a:r>
          </a:p>
        </p:txBody>
      </p:sp>
      <p:sp>
        <p:nvSpPr>
          <p:cNvPr id="21" name="TextBox 20"/>
          <p:cNvSpPr txBox="1"/>
          <p:nvPr/>
        </p:nvSpPr>
        <p:spPr>
          <a:xfrm>
            <a:off x="3246120" y="4078223"/>
            <a:ext cx="7863840" cy="429768"/>
          </a:xfrm>
          <a:prstGeom prst="rect">
            <a:avLst/>
          </a:prstGeom>
          <a:noFill/>
        </p:spPr>
        <p:txBody>
          <a:bodyPr wrap="square" lIns="36576" tIns="36576" rIns="36576" bIns="36576" anchor="t">
            <a:spAutoFit/>
          </a:bodyPr>
          <a:lstStyle/>
          <a:p>
            <a:pPr algn="l">
              <a:spcAft>
                <a:spcPts val="0"/>
              </a:spcAft>
            </a:pPr>
            <a:r>
              <a:rPr sz="1500" b="0" i="0">
                <a:solidFill>
                  <a:srgbClr val="5E6F82"/>
                </a:solidFill>
                <a:latin typeface="Aptos"/>
              </a:rPr>
              <a:t>Whether temporal coverage supports narrative-evolution claims.</a:t>
            </a:r>
          </a:p>
        </p:txBody>
      </p:sp>
      <p:sp>
        <p:nvSpPr>
          <p:cNvPr id="22" name="Oval 21"/>
          <p:cNvSpPr/>
          <p:nvPr/>
        </p:nvSpPr>
        <p:spPr>
          <a:xfrm>
            <a:off x="804672" y="4919472"/>
            <a:ext cx="502920" cy="502920"/>
          </a:xfrm>
          <a:prstGeom prst="ellipse">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5038344"/>
            <a:ext cx="420624" cy="182880"/>
          </a:xfrm>
          <a:prstGeom prst="rect">
            <a:avLst/>
          </a:prstGeom>
          <a:noFill/>
        </p:spPr>
        <p:txBody>
          <a:bodyPr wrap="square" lIns="36576" tIns="36576" rIns="36576" bIns="36576" anchor="t">
            <a:spAutoFit/>
          </a:bodyPr>
          <a:lstStyle/>
          <a:p>
            <a:pPr algn="ctr">
              <a:spcAft>
                <a:spcPts val="0"/>
              </a:spcAft>
            </a:pPr>
            <a:r>
              <a:rPr sz="1000" b="1" i="0">
                <a:solidFill>
                  <a:srgbClr val="101F37"/>
                </a:solidFill>
                <a:latin typeface="Aptos"/>
              </a:rPr>
              <a:t>05</a:t>
            </a:r>
          </a:p>
        </p:txBody>
      </p:sp>
      <p:sp>
        <p:nvSpPr>
          <p:cNvPr id="24" name="TextBox 23"/>
          <p:cNvSpPr txBox="1"/>
          <p:nvPr/>
        </p:nvSpPr>
        <p:spPr>
          <a:xfrm>
            <a:off x="1572768" y="4937759"/>
            <a:ext cx="155448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Reproduce</a:t>
            </a:r>
          </a:p>
        </p:txBody>
      </p:sp>
      <p:sp>
        <p:nvSpPr>
          <p:cNvPr id="25" name="TextBox 24"/>
          <p:cNvSpPr txBox="1"/>
          <p:nvPr/>
        </p:nvSpPr>
        <p:spPr>
          <a:xfrm>
            <a:off x="3246120" y="4937759"/>
            <a:ext cx="7863840" cy="429768"/>
          </a:xfrm>
          <a:prstGeom prst="rect">
            <a:avLst/>
          </a:prstGeom>
          <a:noFill/>
        </p:spPr>
        <p:txBody>
          <a:bodyPr wrap="square" lIns="36576" tIns="36576" rIns="36576" bIns="36576" anchor="t">
            <a:spAutoFit/>
          </a:bodyPr>
          <a:lstStyle/>
          <a:p>
            <a:pPr algn="l">
              <a:spcAft>
                <a:spcPts val="0"/>
              </a:spcAft>
            </a:pPr>
            <a:r>
              <a:rPr sz="1500" b="0" i="0">
                <a:solidFill>
                  <a:srgbClr val="5E6F82"/>
                </a:solidFill>
                <a:latin typeface="Aptos"/>
              </a:rPr>
              <a:t>Saved statistical calculations and document data-quality issues.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DATASET</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Data coverage: three distinct denominators</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04</a:t>
            </a:r>
          </a:p>
        </p:txBody>
      </p:sp>
      <p:sp>
        <p:nvSpPr>
          <p:cNvPr id="6" name="TextBox 5"/>
          <p:cNvSpPr txBox="1"/>
          <p:nvPr/>
        </p:nvSpPr>
        <p:spPr>
          <a:xfrm>
            <a:off x="822960" y="1572768"/>
            <a:ext cx="2377440" cy="320040"/>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Master corpus</a:t>
            </a:r>
          </a:p>
        </p:txBody>
      </p:sp>
      <p:sp>
        <p:nvSpPr>
          <p:cNvPr id="7" name="Rounded Rectangle 6"/>
          <p:cNvSpPr/>
          <p:nvPr/>
        </p:nvSpPr>
        <p:spPr>
          <a:xfrm>
            <a:off x="3246120" y="1600200"/>
            <a:ext cx="5760720" cy="283464"/>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46120" y="1600200"/>
            <a:ext cx="5760720" cy="283464"/>
          </a:xfrm>
          <a:prstGeom prst="roundRect">
            <a:avLst/>
          </a:prstGeom>
          <a:solidFill>
            <a:srgbClr val="182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81160" y="1563624"/>
            <a:ext cx="1234440" cy="347472"/>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4,972</a:t>
            </a:r>
          </a:p>
        </p:txBody>
      </p:sp>
      <p:sp>
        <p:nvSpPr>
          <p:cNvPr id="10" name="TextBox 9"/>
          <p:cNvSpPr txBox="1"/>
          <p:nvPr/>
        </p:nvSpPr>
        <p:spPr>
          <a:xfrm>
            <a:off x="822960" y="2532888"/>
            <a:ext cx="2377440" cy="320040"/>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Processed NLP / Phase 8</a:t>
            </a:r>
          </a:p>
        </p:txBody>
      </p:sp>
      <p:sp>
        <p:nvSpPr>
          <p:cNvPr id="11" name="Rounded Rectangle 10"/>
          <p:cNvSpPr/>
          <p:nvPr/>
        </p:nvSpPr>
        <p:spPr>
          <a:xfrm>
            <a:off x="3246120" y="2560320"/>
            <a:ext cx="5760720" cy="283464"/>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46120" y="2560320"/>
            <a:ext cx="5647174" cy="283464"/>
          </a:xfrm>
          <a:prstGeom prst="round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81160" y="2523744"/>
            <a:ext cx="1234440" cy="347472"/>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4,874</a:t>
            </a:r>
          </a:p>
        </p:txBody>
      </p:sp>
      <p:sp>
        <p:nvSpPr>
          <p:cNvPr id="14" name="TextBox 13"/>
          <p:cNvSpPr txBox="1"/>
          <p:nvPr/>
        </p:nvSpPr>
        <p:spPr>
          <a:xfrm>
            <a:off x="822960" y="3493008"/>
            <a:ext cx="2377440" cy="320040"/>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Topic / temporal corpus</a:t>
            </a:r>
          </a:p>
        </p:txBody>
      </p:sp>
      <p:sp>
        <p:nvSpPr>
          <p:cNvPr id="15" name="Rounded Rectangle 14"/>
          <p:cNvSpPr/>
          <p:nvPr/>
        </p:nvSpPr>
        <p:spPr>
          <a:xfrm>
            <a:off x="3246120" y="3520440"/>
            <a:ext cx="5760720" cy="283464"/>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46120" y="3520440"/>
            <a:ext cx="4664653" cy="283464"/>
          </a:xfrm>
          <a:prstGeom prst="round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81160" y="3483864"/>
            <a:ext cx="1234440" cy="347472"/>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4,026</a:t>
            </a:r>
          </a:p>
        </p:txBody>
      </p:sp>
      <p:sp>
        <p:nvSpPr>
          <p:cNvPr id="18" name="Rounded Rectangle 17"/>
          <p:cNvSpPr/>
          <p:nvPr/>
        </p:nvSpPr>
        <p:spPr>
          <a:xfrm>
            <a:off x="822960" y="4709160"/>
            <a:ext cx="507492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 y="4709160"/>
            <a:ext cx="73152" cy="105156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4128" y="4864608"/>
            <a:ext cx="4709159" cy="320040"/>
          </a:xfrm>
          <a:prstGeom prst="rect">
            <a:avLst/>
          </a:prstGeom>
          <a:noFill/>
        </p:spPr>
        <p:txBody>
          <a:bodyPr wrap="square" lIns="36576" tIns="36576" rIns="36576" bIns="36576" anchor="t">
            <a:spAutoFit/>
          </a:bodyPr>
          <a:lstStyle/>
          <a:p>
            <a:pPr algn="l">
              <a:spcAft>
                <a:spcPts val="0"/>
              </a:spcAft>
            </a:pPr>
            <a:r>
              <a:rPr sz="1400" b="1" i="0">
                <a:solidFill>
                  <a:srgbClr val="101F37"/>
                </a:solidFill>
                <a:latin typeface="Aptos"/>
              </a:rPr>
              <a:t>Unresolved difference</a:t>
            </a:r>
          </a:p>
        </p:txBody>
      </p:sp>
      <p:sp>
        <p:nvSpPr>
          <p:cNvPr id="21" name="TextBox 20"/>
          <p:cNvSpPr txBox="1"/>
          <p:nvPr/>
        </p:nvSpPr>
        <p:spPr>
          <a:xfrm>
            <a:off x="1024128" y="5276088"/>
            <a:ext cx="4709159" cy="338327"/>
          </a:xfrm>
          <a:prstGeom prst="rect">
            <a:avLst/>
          </a:prstGeom>
          <a:noFill/>
        </p:spPr>
        <p:txBody>
          <a:bodyPr wrap="square" lIns="36576" tIns="36576" rIns="36576" bIns="36576" anchor="t">
            <a:spAutoFit/>
          </a:bodyPr>
          <a:lstStyle/>
          <a:p>
            <a:pPr algn="l">
              <a:spcAft>
                <a:spcPts val="0"/>
              </a:spcAft>
            </a:pPr>
            <a:r>
              <a:rPr sz="1200" b="0" i="0">
                <a:solidFill>
                  <a:srgbClr val="5E6F82"/>
                </a:solidFill>
                <a:latin typeface="Aptos"/>
              </a:rPr>
              <a:t>848 IDs differ between Phase 8 and topic/temporal corpora.</a:t>
            </a:r>
          </a:p>
        </p:txBody>
      </p:sp>
      <p:sp>
        <p:nvSpPr>
          <p:cNvPr id="22" name="Rounded Rectangle 21"/>
          <p:cNvSpPr/>
          <p:nvPr/>
        </p:nvSpPr>
        <p:spPr>
          <a:xfrm>
            <a:off x="6217920" y="4709160"/>
            <a:ext cx="507492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4709160"/>
            <a:ext cx="73152" cy="1051560"/>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8" y="4864608"/>
            <a:ext cx="4709159" cy="320040"/>
          </a:xfrm>
          <a:prstGeom prst="rect">
            <a:avLst/>
          </a:prstGeom>
          <a:noFill/>
        </p:spPr>
        <p:txBody>
          <a:bodyPr wrap="square" lIns="36576" tIns="36576" rIns="36576" bIns="36576" anchor="t">
            <a:spAutoFit/>
          </a:bodyPr>
          <a:lstStyle/>
          <a:p>
            <a:pPr algn="l">
              <a:spcAft>
                <a:spcPts val="0"/>
              </a:spcAft>
            </a:pPr>
            <a:r>
              <a:rPr sz="1400" b="1" i="0">
                <a:solidFill>
                  <a:srgbClr val="101F37"/>
                </a:solidFill>
                <a:latin typeface="Aptos"/>
              </a:rPr>
              <a:t>Master-to-NLP difference</a:t>
            </a:r>
          </a:p>
        </p:txBody>
      </p:sp>
      <p:sp>
        <p:nvSpPr>
          <p:cNvPr id="25" name="TextBox 24"/>
          <p:cNvSpPr txBox="1"/>
          <p:nvPr/>
        </p:nvSpPr>
        <p:spPr>
          <a:xfrm>
            <a:off x="6419088" y="5276088"/>
            <a:ext cx="4709159" cy="338327"/>
          </a:xfrm>
          <a:prstGeom prst="rect">
            <a:avLst/>
          </a:prstGeom>
          <a:noFill/>
        </p:spPr>
        <p:txBody>
          <a:bodyPr wrap="square" lIns="36576" tIns="36576" rIns="36576" bIns="36576" anchor="t">
            <a:spAutoFit/>
          </a:bodyPr>
          <a:lstStyle/>
          <a:p>
            <a:pPr algn="l">
              <a:spcAft>
                <a:spcPts val="0"/>
              </a:spcAft>
            </a:pPr>
            <a:r>
              <a:rPr sz="1200" b="0" i="0">
                <a:solidFill>
                  <a:srgbClr val="5E6F82"/>
                </a:solidFill>
                <a:latin typeface="Aptos"/>
              </a:rPr>
              <a:t>98 master-corpus records are absent from processed NLP.</a:t>
            </a:r>
          </a:p>
        </p:txBody>
      </p:sp>
      <p:sp>
        <p:nvSpPr>
          <p:cNvPr id="26" name="TextBox 25"/>
          <p:cNvSpPr txBox="1"/>
          <p:nvPr/>
        </p:nvSpPr>
        <p:spPr>
          <a:xfrm>
            <a:off x="841248" y="4407408"/>
            <a:ext cx="9784080" cy="228600"/>
          </a:xfrm>
          <a:prstGeom prst="rect">
            <a:avLst/>
          </a:prstGeom>
          <a:noFill/>
        </p:spPr>
        <p:txBody>
          <a:bodyPr wrap="square" lIns="36576" tIns="36576" rIns="36576" bIns="36576" anchor="t">
            <a:spAutoFit/>
          </a:bodyPr>
          <a:lstStyle/>
          <a:p>
            <a:pPr algn="l">
              <a:spcAft>
                <a:spcPts val="0"/>
              </a:spcAft>
            </a:pPr>
            <a:r>
              <a:rPr sz="1300" b="1" i="0">
                <a:solidFill>
                  <a:srgbClr val="5E6F82"/>
                </a:solidFill>
                <a:latin typeface="Aptos"/>
              </a:rPr>
              <a:t>Communities: gaming • science • todayilearned • worldnews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METHODS</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Analytical workflow</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05</a:t>
            </a:r>
          </a:p>
        </p:txBody>
      </p:sp>
      <p:sp>
        <p:nvSpPr>
          <p:cNvPr id="6" name="Rounded Rectangle 5"/>
          <p:cNvSpPr/>
          <p:nvPr/>
        </p:nvSpPr>
        <p:spPr>
          <a:xfrm>
            <a:off x="621792" y="2148840"/>
            <a:ext cx="1664208"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1792" y="2148840"/>
            <a:ext cx="1664208" cy="109728"/>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395728"/>
            <a:ext cx="502920" cy="256032"/>
          </a:xfrm>
          <a:prstGeom prst="rect">
            <a:avLst/>
          </a:prstGeom>
          <a:noFill/>
        </p:spPr>
        <p:txBody>
          <a:bodyPr wrap="square" lIns="36576" tIns="36576" rIns="36576" bIns="36576" anchor="t">
            <a:spAutoFit/>
          </a:bodyPr>
          <a:lstStyle/>
          <a:p>
            <a:pPr algn="l">
              <a:spcAft>
                <a:spcPts val="0"/>
              </a:spcAft>
            </a:pPr>
            <a:r>
              <a:rPr sz="1200" b="1" i="0">
                <a:solidFill>
                  <a:srgbClr val="1CB3A6"/>
                </a:solidFill>
                <a:latin typeface="Aptos"/>
              </a:rPr>
              <a:t>01</a:t>
            </a:r>
          </a:p>
        </p:txBody>
      </p:sp>
      <p:sp>
        <p:nvSpPr>
          <p:cNvPr id="9" name="TextBox 8"/>
          <p:cNvSpPr txBox="1"/>
          <p:nvPr/>
        </p:nvSpPr>
        <p:spPr>
          <a:xfrm>
            <a:off x="758952" y="2761488"/>
            <a:ext cx="1417320" cy="429768"/>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Corpus checks</a:t>
            </a:r>
          </a:p>
        </p:txBody>
      </p:sp>
      <p:sp>
        <p:nvSpPr>
          <p:cNvPr id="10" name="TextBox 9"/>
          <p:cNvSpPr txBox="1"/>
          <p:nvPr/>
        </p:nvSpPr>
        <p:spPr>
          <a:xfrm>
            <a:off x="758952" y="3273552"/>
            <a:ext cx="1399032" cy="594360"/>
          </a:xfrm>
          <a:prstGeom prst="rect">
            <a:avLst/>
          </a:prstGeom>
          <a:noFill/>
        </p:spPr>
        <p:txBody>
          <a:bodyPr wrap="square" lIns="36576" tIns="36576" rIns="36576" bIns="36576" anchor="t">
            <a:spAutoFit/>
          </a:bodyPr>
          <a:lstStyle/>
          <a:p>
            <a:pPr algn="l">
              <a:spcAft>
                <a:spcPts val="0"/>
              </a:spcAft>
            </a:pPr>
            <a:r>
              <a:rPr sz="1100" b="0" i="0">
                <a:solidFill>
                  <a:srgbClr val="5E6F82"/>
                </a:solidFill>
                <a:latin typeface="Aptos"/>
              </a:rPr>
              <a:t>Record IDs, dates, coverage</a:t>
            </a:r>
          </a:p>
        </p:txBody>
      </p:sp>
      <p:cxnSp>
        <p:nvCxnSpPr>
          <p:cNvPr id="11" name="Connector 10"/>
          <p:cNvCxnSpPr/>
          <p:nvPr/>
        </p:nvCxnSpPr>
        <p:spPr>
          <a:xfrm>
            <a:off x="2313432" y="3063240"/>
            <a:ext cx="530352" cy="0"/>
          </a:xfrm>
          <a:prstGeom prst="line">
            <a:avLst/>
          </a:prstGeom>
          <a:ln w="25400">
            <a:solidFill>
              <a:srgbClr val="1CB3A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44368" y="2148840"/>
            <a:ext cx="1664208"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44368" y="2148840"/>
            <a:ext cx="1664208" cy="109728"/>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2395728"/>
            <a:ext cx="502920" cy="256032"/>
          </a:xfrm>
          <a:prstGeom prst="rect">
            <a:avLst/>
          </a:prstGeom>
          <a:noFill/>
        </p:spPr>
        <p:txBody>
          <a:bodyPr wrap="square" lIns="36576" tIns="36576" rIns="36576" bIns="36576" anchor="t">
            <a:spAutoFit/>
          </a:bodyPr>
          <a:lstStyle/>
          <a:p>
            <a:pPr algn="l">
              <a:spcAft>
                <a:spcPts val="0"/>
              </a:spcAft>
            </a:pPr>
            <a:r>
              <a:rPr sz="1200" b="1" i="0">
                <a:solidFill>
                  <a:srgbClr val="F5B142"/>
                </a:solidFill>
                <a:latin typeface="Aptos"/>
              </a:rPr>
              <a:t>02</a:t>
            </a:r>
          </a:p>
        </p:txBody>
      </p:sp>
      <p:sp>
        <p:nvSpPr>
          <p:cNvPr id="15" name="TextBox 14"/>
          <p:cNvSpPr txBox="1"/>
          <p:nvPr/>
        </p:nvSpPr>
        <p:spPr>
          <a:xfrm>
            <a:off x="3081528" y="2761488"/>
            <a:ext cx="1417320" cy="429768"/>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NLP signals</a:t>
            </a:r>
          </a:p>
        </p:txBody>
      </p:sp>
      <p:sp>
        <p:nvSpPr>
          <p:cNvPr id="16" name="TextBox 15"/>
          <p:cNvSpPr txBox="1"/>
          <p:nvPr/>
        </p:nvSpPr>
        <p:spPr>
          <a:xfrm>
            <a:off x="3081528" y="3273552"/>
            <a:ext cx="1399032" cy="594360"/>
          </a:xfrm>
          <a:prstGeom prst="rect">
            <a:avLst/>
          </a:prstGeom>
          <a:noFill/>
        </p:spPr>
        <p:txBody>
          <a:bodyPr wrap="square" lIns="36576" tIns="36576" rIns="36576" bIns="36576" anchor="t">
            <a:spAutoFit/>
          </a:bodyPr>
          <a:lstStyle/>
          <a:p>
            <a:pPr algn="l">
              <a:spcAft>
                <a:spcPts val="0"/>
              </a:spcAft>
            </a:pPr>
            <a:r>
              <a:rPr sz="1100" b="0" i="0">
                <a:solidFill>
                  <a:srgbClr val="5E6F82"/>
                </a:solidFill>
                <a:latin typeface="Aptos"/>
              </a:rPr>
              <a:t>Sentiment, emotion, linguistic features</a:t>
            </a:r>
          </a:p>
        </p:txBody>
      </p:sp>
      <p:cxnSp>
        <p:nvCxnSpPr>
          <p:cNvPr id="17" name="Connector 16"/>
          <p:cNvCxnSpPr/>
          <p:nvPr/>
        </p:nvCxnSpPr>
        <p:spPr>
          <a:xfrm>
            <a:off x="4636008" y="3063240"/>
            <a:ext cx="530352" cy="0"/>
          </a:xfrm>
          <a:prstGeom prst="line">
            <a:avLst/>
          </a:prstGeom>
          <a:ln w="25400">
            <a:solidFill>
              <a:srgbClr val="1CB3A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66944" y="2148840"/>
            <a:ext cx="1664208"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266944" y="2148840"/>
            <a:ext cx="1664208" cy="109728"/>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4104" y="2395728"/>
            <a:ext cx="502920" cy="256032"/>
          </a:xfrm>
          <a:prstGeom prst="rect">
            <a:avLst/>
          </a:prstGeom>
          <a:noFill/>
        </p:spPr>
        <p:txBody>
          <a:bodyPr wrap="square" lIns="36576" tIns="36576" rIns="36576" bIns="36576" anchor="t">
            <a:spAutoFit/>
          </a:bodyPr>
          <a:lstStyle/>
          <a:p>
            <a:pPr algn="l">
              <a:spcAft>
                <a:spcPts val="0"/>
              </a:spcAft>
            </a:pPr>
            <a:r>
              <a:rPr sz="1200" b="1" i="0">
                <a:solidFill>
                  <a:srgbClr val="1CB3A6"/>
                </a:solidFill>
                <a:latin typeface="Aptos"/>
              </a:rPr>
              <a:t>03</a:t>
            </a:r>
          </a:p>
        </p:txBody>
      </p:sp>
      <p:sp>
        <p:nvSpPr>
          <p:cNvPr id="21" name="TextBox 20"/>
          <p:cNvSpPr txBox="1"/>
          <p:nvPr/>
        </p:nvSpPr>
        <p:spPr>
          <a:xfrm>
            <a:off x="5404104" y="2761488"/>
            <a:ext cx="1417320" cy="429768"/>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Topic modelling</a:t>
            </a:r>
          </a:p>
        </p:txBody>
      </p:sp>
      <p:sp>
        <p:nvSpPr>
          <p:cNvPr id="22" name="TextBox 21"/>
          <p:cNvSpPr txBox="1"/>
          <p:nvPr/>
        </p:nvSpPr>
        <p:spPr>
          <a:xfrm>
            <a:off x="5404104" y="3273552"/>
            <a:ext cx="1399032" cy="594360"/>
          </a:xfrm>
          <a:prstGeom prst="rect">
            <a:avLst/>
          </a:prstGeom>
          <a:noFill/>
        </p:spPr>
        <p:txBody>
          <a:bodyPr wrap="square" lIns="36576" tIns="36576" rIns="36576" bIns="36576" anchor="t">
            <a:spAutoFit/>
          </a:bodyPr>
          <a:lstStyle/>
          <a:p>
            <a:pPr algn="l">
              <a:spcAft>
                <a:spcPts val="0"/>
              </a:spcAft>
            </a:pPr>
            <a:r>
              <a:rPr sz="1100" b="0" i="0">
                <a:solidFill>
                  <a:srgbClr val="5E6F82"/>
                </a:solidFill>
                <a:latin typeface="Aptos"/>
              </a:rPr>
              <a:t>Candidate clusters and themes</a:t>
            </a:r>
          </a:p>
        </p:txBody>
      </p:sp>
      <p:cxnSp>
        <p:nvCxnSpPr>
          <p:cNvPr id="23" name="Connector 22"/>
          <p:cNvCxnSpPr/>
          <p:nvPr/>
        </p:nvCxnSpPr>
        <p:spPr>
          <a:xfrm>
            <a:off x="6958583" y="3063240"/>
            <a:ext cx="530353" cy="0"/>
          </a:xfrm>
          <a:prstGeom prst="line">
            <a:avLst/>
          </a:prstGeom>
          <a:ln w="25400">
            <a:solidFill>
              <a:srgbClr val="1CB3A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89520" y="2148840"/>
            <a:ext cx="1664208"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589520" y="2148840"/>
            <a:ext cx="1664208" cy="109728"/>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26680" y="2395728"/>
            <a:ext cx="502920" cy="256032"/>
          </a:xfrm>
          <a:prstGeom prst="rect">
            <a:avLst/>
          </a:prstGeom>
          <a:noFill/>
        </p:spPr>
        <p:txBody>
          <a:bodyPr wrap="square" lIns="36576" tIns="36576" rIns="36576" bIns="36576" anchor="t">
            <a:spAutoFit/>
          </a:bodyPr>
          <a:lstStyle/>
          <a:p>
            <a:pPr algn="l">
              <a:spcAft>
                <a:spcPts val="0"/>
              </a:spcAft>
            </a:pPr>
            <a:r>
              <a:rPr sz="1200" b="1" i="0">
                <a:solidFill>
                  <a:srgbClr val="F5B142"/>
                </a:solidFill>
                <a:latin typeface="Aptos"/>
              </a:rPr>
              <a:t>04</a:t>
            </a:r>
          </a:p>
        </p:txBody>
      </p:sp>
      <p:sp>
        <p:nvSpPr>
          <p:cNvPr id="27" name="TextBox 26"/>
          <p:cNvSpPr txBox="1"/>
          <p:nvPr/>
        </p:nvSpPr>
        <p:spPr>
          <a:xfrm>
            <a:off x="7726680" y="2761488"/>
            <a:ext cx="1417320" cy="429768"/>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Statistical tests</a:t>
            </a:r>
          </a:p>
        </p:txBody>
      </p:sp>
      <p:sp>
        <p:nvSpPr>
          <p:cNvPr id="28" name="TextBox 27"/>
          <p:cNvSpPr txBox="1"/>
          <p:nvPr/>
        </p:nvSpPr>
        <p:spPr>
          <a:xfrm>
            <a:off x="7726680" y="3273552"/>
            <a:ext cx="1399032" cy="594360"/>
          </a:xfrm>
          <a:prstGeom prst="rect">
            <a:avLst/>
          </a:prstGeom>
          <a:noFill/>
        </p:spPr>
        <p:txBody>
          <a:bodyPr wrap="square" lIns="36576" tIns="36576" rIns="36576" bIns="36576" anchor="t">
            <a:spAutoFit/>
          </a:bodyPr>
          <a:lstStyle/>
          <a:p>
            <a:pPr algn="l">
              <a:spcAft>
                <a:spcPts val="0"/>
              </a:spcAft>
            </a:pPr>
            <a:r>
              <a:rPr sz="1100" b="0" i="0">
                <a:solidFill>
                  <a:srgbClr val="5E6F82"/>
                </a:solidFill>
                <a:latin typeface="Aptos"/>
              </a:rPr>
              <a:t>Cross-community comparisons</a:t>
            </a:r>
          </a:p>
        </p:txBody>
      </p:sp>
      <p:cxnSp>
        <p:nvCxnSpPr>
          <p:cNvPr id="29" name="Connector 28"/>
          <p:cNvCxnSpPr/>
          <p:nvPr/>
        </p:nvCxnSpPr>
        <p:spPr>
          <a:xfrm>
            <a:off x="9281160" y="3063240"/>
            <a:ext cx="530352" cy="0"/>
          </a:xfrm>
          <a:prstGeom prst="line">
            <a:avLst/>
          </a:prstGeom>
          <a:ln w="25400">
            <a:solidFill>
              <a:srgbClr val="1CB3A6"/>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912096" y="2148840"/>
            <a:ext cx="1664208"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912096" y="2148840"/>
            <a:ext cx="1664208" cy="109728"/>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049256" y="2395728"/>
            <a:ext cx="502920" cy="256032"/>
          </a:xfrm>
          <a:prstGeom prst="rect">
            <a:avLst/>
          </a:prstGeom>
          <a:noFill/>
        </p:spPr>
        <p:txBody>
          <a:bodyPr wrap="square" lIns="36576" tIns="36576" rIns="36576" bIns="36576" anchor="t">
            <a:spAutoFit/>
          </a:bodyPr>
          <a:lstStyle/>
          <a:p>
            <a:pPr algn="l">
              <a:spcAft>
                <a:spcPts val="0"/>
              </a:spcAft>
            </a:pPr>
            <a:r>
              <a:rPr sz="1200" b="1" i="0">
                <a:solidFill>
                  <a:srgbClr val="1CB3A6"/>
                </a:solidFill>
                <a:latin typeface="Aptos"/>
              </a:rPr>
              <a:t>05</a:t>
            </a:r>
          </a:p>
        </p:txBody>
      </p:sp>
      <p:sp>
        <p:nvSpPr>
          <p:cNvPr id="33" name="TextBox 32"/>
          <p:cNvSpPr txBox="1"/>
          <p:nvPr/>
        </p:nvSpPr>
        <p:spPr>
          <a:xfrm>
            <a:off x="10049256" y="2761488"/>
            <a:ext cx="1417320" cy="429768"/>
          </a:xfrm>
          <a:prstGeom prst="rect">
            <a:avLst/>
          </a:prstGeom>
          <a:noFill/>
        </p:spPr>
        <p:txBody>
          <a:bodyPr wrap="square" lIns="36576" tIns="36576" rIns="36576" bIns="36576" anchor="t">
            <a:spAutoFit/>
          </a:bodyPr>
          <a:lstStyle/>
          <a:p>
            <a:pPr algn="l">
              <a:spcAft>
                <a:spcPts val="0"/>
              </a:spcAft>
            </a:pPr>
            <a:r>
              <a:rPr sz="1500" b="1" i="0">
                <a:solidFill>
                  <a:srgbClr val="101F37"/>
                </a:solidFill>
                <a:latin typeface="Aptos"/>
              </a:rPr>
              <a:t>Audit &amp; report</a:t>
            </a:r>
          </a:p>
        </p:txBody>
      </p:sp>
      <p:sp>
        <p:nvSpPr>
          <p:cNvPr id="34" name="TextBox 33"/>
          <p:cNvSpPr txBox="1"/>
          <p:nvPr/>
        </p:nvSpPr>
        <p:spPr>
          <a:xfrm>
            <a:off x="10049256" y="3273552"/>
            <a:ext cx="1399032" cy="594360"/>
          </a:xfrm>
          <a:prstGeom prst="rect">
            <a:avLst/>
          </a:prstGeom>
          <a:noFill/>
        </p:spPr>
        <p:txBody>
          <a:bodyPr wrap="square" lIns="36576" tIns="36576" rIns="36576" bIns="36576" anchor="t">
            <a:spAutoFit/>
          </a:bodyPr>
          <a:lstStyle/>
          <a:p>
            <a:pPr algn="l">
              <a:spcAft>
                <a:spcPts val="0"/>
              </a:spcAft>
            </a:pPr>
            <a:r>
              <a:rPr sz="1100" b="0" i="0">
                <a:solidFill>
                  <a:srgbClr val="5E6F82"/>
                </a:solidFill>
                <a:latin typeface="Aptos"/>
              </a:rPr>
              <a:t>Reproduction, quality, limitations</a:t>
            </a:r>
          </a:p>
        </p:txBody>
      </p:sp>
      <p:sp>
        <p:nvSpPr>
          <p:cNvPr id="35" name="TextBox 34"/>
          <p:cNvSpPr txBox="1"/>
          <p:nvPr/>
        </p:nvSpPr>
        <p:spPr>
          <a:xfrm>
            <a:off x="777240" y="4846320"/>
            <a:ext cx="10424160" cy="365760"/>
          </a:xfrm>
          <a:prstGeom prst="rect">
            <a:avLst/>
          </a:prstGeom>
          <a:noFill/>
        </p:spPr>
        <p:txBody>
          <a:bodyPr wrap="square" lIns="36576" tIns="36576" rIns="36576" bIns="36576" anchor="t">
            <a:spAutoFit/>
          </a:bodyPr>
          <a:lstStyle/>
          <a:p>
            <a:pPr algn="l">
              <a:spcAft>
                <a:spcPts val="0"/>
              </a:spcAft>
            </a:pPr>
            <a:r>
              <a:rPr sz="1300" b="0" i="1">
                <a:solidFill>
                  <a:srgbClr val="5E6F82"/>
                </a:solidFill>
                <a:latin typeface="Aptos"/>
              </a:rPr>
              <a:t>Pipeline summary from the saved project documentation; stages are shown conceptually.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RESULTS • SENTIMENT</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Sentiment: polarity and model agreement</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06</a:t>
            </a:r>
          </a:p>
        </p:txBody>
      </p:sp>
      <p:sp>
        <p:nvSpPr>
          <p:cNvPr id="6" name="TextBox 5"/>
          <p:cNvSpPr txBox="1"/>
          <p:nvPr/>
        </p:nvSpPr>
        <p:spPr>
          <a:xfrm>
            <a:off x="822960" y="1371600"/>
            <a:ext cx="6766560" cy="347472"/>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VADER vs transformer classification agreement</a:t>
            </a:r>
          </a:p>
        </p:txBody>
      </p:sp>
      <p:sp>
        <p:nvSpPr>
          <p:cNvPr id="7" name="TextBox 6"/>
          <p:cNvSpPr txBox="1"/>
          <p:nvPr/>
        </p:nvSpPr>
        <p:spPr>
          <a:xfrm>
            <a:off x="868680" y="1865376"/>
            <a:ext cx="1554480" cy="310896"/>
          </a:xfrm>
          <a:prstGeom prst="rect">
            <a:avLst/>
          </a:prstGeom>
          <a:noFill/>
        </p:spPr>
        <p:txBody>
          <a:bodyPr wrap="square" lIns="36576" tIns="36576" rIns="36576" bIns="36576" anchor="t">
            <a:spAutoFit/>
          </a:bodyPr>
          <a:lstStyle/>
          <a:p>
            <a:pPr algn="l">
              <a:spcAft>
                <a:spcPts val="0"/>
              </a:spcAft>
            </a:pPr>
            <a:r>
              <a:rPr sz="1400" b="1" i="0">
                <a:solidFill>
                  <a:srgbClr val="1E2B3B"/>
                </a:solidFill>
                <a:latin typeface="Aptos"/>
              </a:rPr>
              <a:t>gaming</a:t>
            </a:r>
          </a:p>
        </p:txBody>
      </p:sp>
      <p:sp>
        <p:nvSpPr>
          <p:cNvPr id="8" name="Rounded Rectangle 7"/>
          <p:cNvSpPr/>
          <p:nvPr/>
        </p:nvSpPr>
        <p:spPr>
          <a:xfrm>
            <a:off x="2423160" y="1911095"/>
            <a:ext cx="4846320" cy="219456"/>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423160" y="1911095"/>
            <a:ext cx="3433133" cy="219456"/>
          </a:xfrm>
          <a:prstGeom prst="round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79207" y="1865376"/>
            <a:ext cx="1143000" cy="310896"/>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70.84%</a:t>
            </a:r>
          </a:p>
        </p:txBody>
      </p:sp>
      <p:sp>
        <p:nvSpPr>
          <p:cNvPr id="11" name="TextBox 10"/>
          <p:cNvSpPr txBox="1"/>
          <p:nvPr/>
        </p:nvSpPr>
        <p:spPr>
          <a:xfrm>
            <a:off x="8778240" y="1856231"/>
            <a:ext cx="1554480" cy="320040"/>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κ = 0.346</a:t>
            </a:r>
          </a:p>
        </p:txBody>
      </p:sp>
      <p:sp>
        <p:nvSpPr>
          <p:cNvPr id="12" name="TextBox 11"/>
          <p:cNvSpPr txBox="1"/>
          <p:nvPr/>
        </p:nvSpPr>
        <p:spPr>
          <a:xfrm>
            <a:off x="868680" y="2578608"/>
            <a:ext cx="1554480" cy="310896"/>
          </a:xfrm>
          <a:prstGeom prst="rect">
            <a:avLst/>
          </a:prstGeom>
          <a:noFill/>
        </p:spPr>
        <p:txBody>
          <a:bodyPr wrap="square" lIns="36576" tIns="36576" rIns="36576" bIns="36576" anchor="t">
            <a:spAutoFit/>
          </a:bodyPr>
          <a:lstStyle/>
          <a:p>
            <a:pPr algn="l">
              <a:spcAft>
                <a:spcPts val="0"/>
              </a:spcAft>
            </a:pPr>
            <a:r>
              <a:rPr sz="1400" b="1" i="0">
                <a:solidFill>
                  <a:srgbClr val="1E2B3B"/>
                </a:solidFill>
                <a:latin typeface="Aptos"/>
              </a:rPr>
              <a:t>science</a:t>
            </a:r>
          </a:p>
        </p:txBody>
      </p:sp>
      <p:sp>
        <p:nvSpPr>
          <p:cNvPr id="13" name="Rounded Rectangle 12"/>
          <p:cNvSpPr/>
          <p:nvPr/>
        </p:nvSpPr>
        <p:spPr>
          <a:xfrm>
            <a:off x="2423160" y="2624328"/>
            <a:ext cx="4846320" cy="219456"/>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23160" y="2624328"/>
            <a:ext cx="3060935" cy="219456"/>
          </a:xfrm>
          <a:prstGeom prst="round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79207" y="2578608"/>
            <a:ext cx="1143000" cy="310896"/>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63.16%</a:t>
            </a:r>
          </a:p>
        </p:txBody>
      </p:sp>
      <p:sp>
        <p:nvSpPr>
          <p:cNvPr id="16" name="TextBox 15"/>
          <p:cNvSpPr txBox="1"/>
          <p:nvPr/>
        </p:nvSpPr>
        <p:spPr>
          <a:xfrm>
            <a:off x="8778240" y="2569463"/>
            <a:ext cx="1554480" cy="320040"/>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κ = 0.191</a:t>
            </a:r>
          </a:p>
        </p:txBody>
      </p:sp>
      <p:sp>
        <p:nvSpPr>
          <p:cNvPr id="17" name="TextBox 16"/>
          <p:cNvSpPr txBox="1"/>
          <p:nvPr/>
        </p:nvSpPr>
        <p:spPr>
          <a:xfrm>
            <a:off x="868680" y="3291840"/>
            <a:ext cx="1554480" cy="310896"/>
          </a:xfrm>
          <a:prstGeom prst="rect">
            <a:avLst/>
          </a:prstGeom>
          <a:noFill/>
        </p:spPr>
        <p:txBody>
          <a:bodyPr wrap="square" lIns="36576" tIns="36576" rIns="36576" bIns="36576" anchor="t">
            <a:spAutoFit/>
          </a:bodyPr>
          <a:lstStyle/>
          <a:p>
            <a:pPr algn="l">
              <a:spcAft>
                <a:spcPts val="0"/>
              </a:spcAft>
            </a:pPr>
            <a:r>
              <a:rPr sz="1400" b="1" i="0">
                <a:solidFill>
                  <a:srgbClr val="1E2B3B"/>
                </a:solidFill>
                <a:latin typeface="Aptos"/>
              </a:rPr>
              <a:t>todayilearned</a:t>
            </a:r>
          </a:p>
        </p:txBody>
      </p:sp>
      <p:sp>
        <p:nvSpPr>
          <p:cNvPr id="18" name="Rounded Rectangle 17"/>
          <p:cNvSpPr/>
          <p:nvPr/>
        </p:nvSpPr>
        <p:spPr>
          <a:xfrm>
            <a:off x="2423160" y="3337560"/>
            <a:ext cx="4846320" cy="219456"/>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423160" y="3337560"/>
            <a:ext cx="3311005" cy="219456"/>
          </a:xfrm>
          <a:prstGeom prst="round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79207" y="3291840"/>
            <a:ext cx="1143000" cy="310896"/>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68.32%</a:t>
            </a:r>
          </a:p>
        </p:txBody>
      </p:sp>
      <p:sp>
        <p:nvSpPr>
          <p:cNvPr id="21" name="TextBox 20"/>
          <p:cNvSpPr txBox="1"/>
          <p:nvPr/>
        </p:nvSpPr>
        <p:spPr>
          <a:xfrm>
            <a:off x="8778240" y="3282696"/>
            <a:ext cx="1554480" cy="320040"/>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κ = 0.301</a:t>
            </a:r>
          </a:p>
        </p:txBody>
      </p:sp>
      <p:sp>
        <p:nvSpPr>
          <p:cNvPr id="22" name="TextBox 21"/>
          <p:cNvSpPr txBox="1"/>
          <p:nvPr/>
        </p:nvSpPr>
        <p:spPr>
          <a:xfrm>
            <a:off x="868680" y="4005072"/>
            <a:ext cx="1554480" cy="310896"/>
          </a:xfrm>
          <a:prstGeom prst="rect">
            <a:avLst/>
          </a:prstGeom>
          <a:noFill/>
        </p:spPr>
        <p:txBody>
          <a:bodyPr wrap="square" lIns="36576" tIns="36576" rIns="36576" bIns="36576" anchor="t">
            <a:spAutoFit/>
          </a:bodyPr>
          <a:lstStyle/>
          <a:p>
            <a:pPr algn="l">
              <a:spcAft>
                <a:spcPts val="0"/>
              </a:spcAft>
            </a:pPr>
            <a:r>
              <a:rPr sz="1400" b="1" i="0">
                <a:solidFill>
                  <a:srgbClr val="1E2B3B"/>
                </a:solidFill>
                <a:latin typeface="Aptos"/>
              </a:rPr>
              <a:t>worldnews</a:t>
            </a:r>
          </a:p>
        </p:txBody>
      </p:sp>
      <p:sp>
        <p:nvSpPr>
          <p:cNvPr id="23" name="Rounded Rectangle 22"/>
          <p:cNvSpPr/>
          <p:nvPr/>
        </p:nvSpPr>
        <p:spPr>
          <a:xfrm>
            <a:off x="2423160" y="4050791"/>
            <a:ext cx="4846320" cy="219456"/>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423160" y="4050791"/>
            <a:ext cx="3284835" cy="219456"/>
          </a:xfrm>
          <a:prstGeom prst="round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79207" y="4005072"/>
            <a:ext cx="1143000" cy="310896"/>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67.78%</a:t>
            </a:r>
          </a:p>
        </p:txBody>
      </p:sp>
      <p:sp>
        <p:nvSpPr>
          <p:cNvPr id="26" name="TextBox 25"/>
          <p:cNvSpPr txBox="1"/>
          <p:nvPr/>
        </p:nvSpPr>
        <p:spPr>
          <a:xfrm>
            <a:off x="8778240" y="3995927"/>
            <a:ext cx="1554480" cy="320040"/>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κ = 0.249</a:t>
            </a:r>
          </a:p>
        </p:txBody>
      </p:sp>
      <p:sp>
        <p:nvSpPr>
          <p:cNvPr id="27" name="Rounded Rectangle 26"/>
          <p:cNvSpPr/>
          <p:nvPr/>
        </p:nvSpPr>
        <p:spPr>
          <a:xfrm>
            <a:off x="868680" y="5074920"/>
            <a:ext cx="49377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8680" y="5074920"/>
            <a:ext cx="73152" cy="868680"/>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9848" y="5230368"/>
            <a:ext cx="4572000" cy="320040"/>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Highest agreement</a:t>
            </a:r>
          </a:p>
        </p:txBody>
      </p:sp>
      <p:sp>
        <p:nvSpPr>
          <p:cNvPr id="30" name="TextBox 29"/>
          <p:cNvSpPr txBox="1"/>
          <p:nvPr/>
        </p:nvSpPr>
        <p:spPr>
          <a:xfrm>
            <a:off x="1069848" y="5641848"/>
            <a:ext cx="4572000" cy="155447"/>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gaming • 70.84%</a:t>
            </a:r>
          </a:p>
        </p:txBody>
      </p:sp>
      <p:sp>
        <p:nvSpPr>
          <p:cNvPr id="31" name="Rounded Rectangle 30"/>
          <p:cNvSpPr/>
          <p:nvPr/>
        </p:nvSpPr>
        <p:spPr>
          <a:xfrm>
            <a:off x="6217920" y="5074920"/>
            <a:ext cx="493776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17920" y="5074920"/>
            <a:ext cx="73152" cy="86868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9088" y="5230368"/>
            <a:ext cx="4572000" cy="320040"/>
          </a:xfrm>
          <a:prstGeom prst="rect">
            <a:avLst/>
          </a:prstGeom>
          <a:noFill/>
        </p:spPr>
        <p:txBody>
          <a:bodyPr wrap="square" lIns="36576" tIns="36576" rIns="36576" bIns="36576" anchor="t">
            <a:spAutoFit/>
          </a:bodyPr>
          <a:lstStyle/>
          <a:p>
            <a:pPr algn="l">
              <a:spcAft>
                <a:spcPts val="0"/>
              </a:spcAft>
            </a:pPr>
            <a:r>
              <a:rPr sz="1300" b="1" i="0">
                <a:solidFill>
                  <a:srgbClr val="101F37"/>
                </a:solidFill>
                <a:latin typeface="Aptos"/>
              </a:rPr>
              <a:t>Lowest agreement</a:t>
            </a:r>
          </a:p>
        </p:txBody>
      </p:sp>
      <p:sp>
        <p:nvSpPr>
          <p:cNvPr id="34" name="TextBox 33"/>
          <p:cNvSpPr txBox="1"/>
          <p:nvPr/>
        </p:nvSpPr>
        <p:spPr>
          <a:xfrm>
            <a:off x="6419088" y="5641848"/>
            <a:ext cx="4572000" cy="155447"/>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science • 63.16%</a:t>
            </a:r>
          </a:p>
        </p:txBody>
      </p:sp>
      <p:sp>
        <p:nvSpPr>
          <p:cNvPr id="35" name="TextBox 34"/>
          <p:cNvSpPr txBox="1"/>
          <p:nvPr/>
        </p:nvSpPr>
        <p:spPr>
          <a:xfrm>
            <a:off x="914400" y="6053328"/>
            <a:ext cx="10332720" cy="274320"/>
          </a:xfrm>
          <a:prstGeom prst="rect">
            <a:avLst/>
          </a:prstGeom>
          <a:noFill/>
        </p:spPr>
        <p:txBody>
          <a:bodyPr wrap="square" lIns="36576" tIns="36576" rIns="36576" bIns="36576" anchor="t">
            <a:spAutoFit/>
          </a:bodyPr>
          <a:lstStyle/>
          <a:p>
            <a:pPr algn="l">
              <a:spcAft>
                <a:spcPts val="0"/>
              </a:spcAft>
            </a:pPr>
            <a:r>
              <a:rPr sz="1400" b="1" i="0">
                <a:solidFill>
                  <a:srgbClr val="C45353"/>
                </a:solidFill>
                <a:latin typeface="Aptos"/>
              </a:rPr>
              <a:t>Agreement is not accuracy: neither model is treated as ground truth.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RESULTS • EMOTION</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Emotion analysis: a significant but small association</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07</a:t>
            </a:r>
          </a:p>
        </p:txBody>
      </p:sp>
      <p:sp>
        <p:nvSpPr>
          <p:cNvPr id="6" name="TextBox 5"/>
          <p:cNvSpPr txBox="1"/>
          <p:nvPr/>
        </p:nvSpPr>
        <p:spPr>
          <a:xfrm>
            <a:off x="822960" y="1417320"/>
            <a:ext cx="612648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Emotion-label distribution across communities</a:t>
            </a:r>
          </a:p>
        </p:txBody>
      </p:sp>
      <p:sp>
        <p:nvSpPr>
          <p:cNvPr id="7" name="Rounded Rectangle 6"/>
          <p:cNvSpPr/>
          <p:nvPr/>
        </p:nvSpPr>
        <p:spPr>
          <a:xfrm>
            <a:off x="841248" y="1993392"/>
            <a:ext cx="182880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2121408"/>
            <a:ext cx="1554480" cy="201168"/>
          </a:xfrm>
          <a:prstGeom prst="rect">
            <a:avLst/>
          </a:prstGeom>
          <a:noFill/>
        </p:spPr>
        <p:txBody>
          <a:bodyPr wrap="square" lIns="36576" tIns="36576" rIns="36576" bIns="36576" anchor="t">
            <a:spAutoFit/>
          </a:bodyPr>
          <a:lstStyle/>
          <a:p>
            <a:pPr algn="l">
              <a:spcAft>
                <a:spcPts val="0"/>
              </a:spcAft>
            </a:pPr>
            <a:r>
              <a:rPr sz="900" b="1" i="0">
                <a:solidFill>
                  <a:srgbClr val="5E6F82"/>
                </a:solidFill>
                <a:latin typeface="Aptos"/>
              </a:rPr>
              <a:t>CHI-SQUARE</a:t>
            </a:r>
          </a:p>
        </p:txBody>
      </p:sp>
      <p:sp>
        <p:nvSpPr>
          <p:cNvPr id="9" name="TextBox 8"/>
          <p:cNvSpPr txBox="1"/>
          <p:nvPr/>
        </p:nvSpPr>
        <p:spPr>
          <a:xfrm>
            <a:off x="978408" y="2414016"/>
            <a:ext cx="1572768" cy="292608"/>
          </a:xfrm>
          <a:prstGeom prst="rect">
            <a:avLst/>
          </a:prstGeom>
          <a:noFill/>
        </p:spPr>
        <p:txBody>
          <a:bodyPr wrap="square" lIns="36576" tIns="36576" rIns="36576" bIns="36576" anchor="t">
            <a:spAutoFit/>
          </a:bodyPr>
          <a:lstStyle/>
          <a:p>
            <a:pPr algn="l">
              <a:spcAft>
                <a:spcPts val="0"/>
              </a:spcAft>
            </a:pPr>
            <a:r>
              <a:rPr sz="1800" b="1" i="0">
                <a:solidFill>
                  <a:srgbClr val="1CB3A6"/>
                </a:solidFill>
                <a:latin typeface="Aptos"/>
              </a:rPr>
              <a:t>87.778</a:t>
            </a:r>
          </a:p>
        </p:txBody>
      </p:sp>
      <p:sp>
        <p:nvSpPr>
          <p:cNvPr id="10" name="Rounded Rectangle 9"/>
          <p:cNvSpPr/>
          <p:nvPr/>
        </p:nvSpPr>
        <p:spPr>
          <a:xfrm>
            <a:off x="2898648" y="1993392"/>
            <a:ext cx="182880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35808" y="2121408"/>
            <a:ext cx="1554480" cy="201168"/>
          </a:xfrm>
          <a:prstGeom prst="rect">
            <a:avLst/>
          </a:prstGeom>
          <a:noFill/>
        </p:spPr>
        <p:txBody>
          <a:bodyPr wrap="square" lIns="36576" tIns="36576" rIns="36576" bIns="36576" anchor="t">
            <a:spAutoFit/>
          </a:bodyPr>
          <a:lstStyle/>
          <a:p>
            <a:pPr algn="l">
              <a:spcAft>
                <a:spcPts val="0"/>
              </a:spcAft>
            </a:pPr>
            <a:r>
              <a:rPr sz="900" b="1" i="0">
                <a:solidFill>
                  <a:srgbClr val="5E6F82"/>
                </a:solidFill>
                <a:latin typeface="Aptos"/>
              </a:rPr>
              <a:t>DEGREES OF FREEDOM</a:t>
            </a:r>
          </a:p>
        </p:txBody>
      </p:sp>
      <p:sp>
        <p:nvSpPr>
          <p:cNvPr id="12" name="TextBox 11"/>
          <p:cNvSpPr txBox="1"/>
          <p:nvPr/>
        </p:nvSpPr>
        <p:spPr>
          <a:xfrm>
            <a:off x="3035808" y="2414016"/>
            <a:ext cx="1572768" cy="292608"/>
          </a:xfrm>
          <a:prstGeom prst="rect">
            <a:avLst/>
          </a:prstGeom>
          <a:noFill/>
        </p:spPr>
        <p:txBody>
          <a:bodyPr wrap="square" lIns="36576" tIns="36576" rIns="36576" bIns="36576" anchor="t">
            <a:spAutoFit/>
          </a:bodyPr>
          <a:lstStyle/>
          <a:p>
            <a:pPr algn="l">
              <a:spcAft>
                <a:spcPts val="0"/>
              </a:spcAft>
            </a:pPr>
            <a:r>
              <a:rPr sz="1800" b="1" i="0">
                <a:solidFill>
                  <a:srgbClr val="1CB3A6"/>
                </a:solidFill>
                <a:latin typeface="Aptos"/>
              </a:rPr>
              <a:t>18</a:t>
            </a:r>
          </a:p>
        </p:txBody>
      </p:sp>
      <p:sp>
        <p:nvSpPr>
          <p:cNvPr id="13" name="Rounded Rectangle 12"/>
          <p:cNvSpPr/>
          <p:nvPr/>
        </p:nvSpPr>
        <p:spPr>
          <a:xfrm>
            <a:off x="4956048" y="1993392"/>
            <a:ext cx="182880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93208" y="2121408"/>
            <a:ext cx="1554480" cy="201168"/>
          </a:xfrm>
          <a:prstGeom prst="rect">
            <a:avLst/>
          </a:prstGeom>
          <a:noFill/>
        </p:spPr>
        <p:txBody>
          <a:bodyPr wrap="square" lIns="36576" tIns="36576" rIns="36576" bIns="36576" anchor="t">
            <a:spAutoFit/>
          </a:bodyPr>
          <a:lstStyle/>
          <a:p>
            <a:pPr algn="l">
              <a:spcAft>
                <a:spcPts val="0"/>
              </a:spcAft>
            </a:pPr>
            <a:r>
              <a:rPr sz="900" b="1" i="0">
                <a:solidFill>
                  <a:srgbClr val="5E6F82"/>
                </a:solidFill>
                <a:latin typeface="Aptos"/>
              </a:rPr>
              <a:t>P-VALUE</a:t>
            </a:r>
          </a:p>
        </p:txBody>
      </p:sp>
      <p:sp>
        <p:nvSpPr>
          <p:cNvPr id="15" name="TextBox 14"/>
          <p:cNvSpPr txBox="1"/>
          <p:nvPr/>
        </p:nvSpPr>
        <p:spPr>
          <a:xfrm>
            <a:off x="5093208" y="2414016"/>
            <a:ext cx="1572768" cy="292608"/>
          </a:xfrm>
          <a:prstGeom prst="rect">
            <a:avLst/>
          </a:prstGeom>
          <a:noFill/>
        </p:spPr>
        <p:txBody>
          <a:bodyPr wrap="square" lIns="36576" tIns="36576" rIns="36576" bIns="36576" anchor="t">
            <a:spAutoFit/>
          </a:bodyPr>
          <a:lstStyle/>
          <a:p>
            <a:pPr algn="l">
              <a:spcAft>
                <a:spcPts val="0"/>
              </a:spcAft>
            </a:pPr>
            <a:r>
              <a:rPr sz="1800" b="1" i="0">
                <a:solidFill>
                  <a:srgbClr val="1CB3A6"/>
                </a:solidFill>
                <a:latin typeface="Aptos"/>
              </a:rPr>
              <a:t>3.61 × 10⁻¹¹</a:t>
            </a:r>
          </a:p>
        </p:txBody>
      </p:sp>
      <p:sp>
        <p:nvSpPr>
          <p:cNvPr id="16" name="Rounded Rectangle 15"/>
          <p:cNvSpPr/>
          <p:nvPr/>
        </p:nvSpPr>
        <p:spPr>
          <a:xfrm>
            <a:off x="841248" y="3227832"/>
            <a:ext cx="182880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8" y="3355848"/>
            <a:ext cx="1554480" cy="201168"/>
          </a:xfrm>
          <a:prstGeom prst="rect">
            <a:avLst/>
          </a:prstGeom>
          <a:noFill/>
        </p:spPr>
        <p:txBody>
          <a:bodyPr wrap="square" lIns="36576" tIns="36576" rIns="36576" bIns="36576" anchor="t">
            <a:spAutoFit/>
          </a:bodyPr>
          <a:lstStyle/>
          <a:p>
            <a:pPr algn="l">
              <a:spcAft>
                <a:spcPts val="0"/>
              </a:spcAft>
            </a:pPr>
            <a:r>
              <a:rPr sz="900" b="1" i="0">
                <a:solidFill>
                  <a:srgbClr val="5E6F82"/>
                </a:solidFill>
                <a:latin typeface="Aptos"/>
              </a:rPr>
              <a:t>CRAMÉR’S V</a:t>
            </a:r>
          </a:p>
        </p:txBody>
      </p:sp>
      <p:sp>
        <p:nvSpPr>
          <p:cNvPr id="18" name="TextBox 17"/>
          <p:cNvSpPr txBox="1"/>
          <p:nvPr/>
        </p:nvSpPr>
        <p:spPr>
          <a:xfrm>
            <a:off x="978408" y="3648456"/>
            <a:ext cx="1572768" cy="292608"/>
          </a:xfrm>
          <a:prstGeom prst="rect">
            <a:avLst/>
          </a:prstGeom>
          <a:noFill/>
        </p:spPr>
        <p:txBody>
          <a:bodyPr wrap="square" lIns="36576" tIns="36576" rIns="36576" bIns="36576" anchor="t">
            <a:spAutoFit/>
          </a:bodyPr>
          <a:lstStyle/>
          <a:p>
            <a:pPr algn="l">
              <a:spcAft>
                <a:spcPts val="0"/>
              </a:spcAft>
            </a:pPr>
            <a:r>
              <a:rPr sz="1800" b="1" i="0">
                <a:solidFill>
                  <a:srgbClr val="F5B142"/>
                </a:solidFill>
                <a:latin typeface="Aptos"/>
              </a:rPr>
              <a:t>0.07748</a:t>
            </a:r>
          </a:p>
        </p:txBody>
      </p:sp>
      <p:sp>
        <p:nvSpPr>
          <p:cNvPr id="19" name="Rounded Rectangle 18"/>
          <p:cNvSpPr/>
          <p:nvPr/>
        </p:nvSpPr>
        <p:spPr>
          <a:xfrm>
            <a:off x="2898648" y="3227832"/>
            <a:ext cx="1828800" cy="8961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35808" y="3355848"/>
            <a:ext cx="1554480" cy="201168"/>
          </a:xfrm>
          <a:prstGeom prst="rect">
            <a:avLst/>
          </a:prstGeom>
          <a:noFill/>
        </p:spPr>
        <p:txBody>
          <a:bodyPr wrap="square" lIns="36576" tIns="36576" rIns="36576" bIns="36576" anchor="t">
            <a:spAutoFit/>
          </a:bodyPr>
          <a:lstStyle/>
          <a:p>
            <a:pPr algn="l">
              <a:spcAft>
                <a:spcPts val="0"/>
              </a:spcAft>
            </a:pPr>
            <a:r>
              <a:rPr sz="900" b="1" i="0">
                <a:solidFill>
                  <a:srgbClr val="5E6F82"/>
                </a:solidFill>
                <a:latin typeface="Aptos"/>
              </a:rPr>
              <a:t>N</a:t>
            </a:r>
          </a:p>
        </p:txBody>
      </p:sp>
      <p:sp>
        <p:nvSpPr>
          <p:cNvPr id="21" name="TextBox 20"/>
          <p:cNvSpPr txBox="1"/>
          <p:nvPr/>
        </p:nvSpPr>
        <p:spPr>
          <a:xfrm>
            <a:off x="3035808" y="3648456"/>
            <a:ext cx="1572768" cy="292608"/>
          </a:xfrm>
          <a:prstGeom prst="rect">
            <a:avLst/>
          </a:prstGeom>
          <a:noFill/>
        </p:spPr>
        <p:txBody>
          <a:bodyPr wrap="square" lIns="36576" tIns="36576" rIns="36576" bIns="36576" anchor="t">
            <a:spAutoFit/>
          </a:bodyPr>
          <a:lstStyle/>
          <a:p>
            <a:pPr algn="l">
              <a:spcAft>
                <a:spcPts val="0"/>
              </a:spcAft>
            </a:pPr>
            <a:r>
              <a:rPr sz="1800" b="1" i="0">
                <a:solidFill>
                  <a:srgbClr val="1CB3A6"/>
                </a:solidFill>
                <a:latin typeface="Aptos"/>
              </a:rPr>
              <a:t>4,874</a:t>
            </a:r>
          </a:p>
        </p:txBody>
      </p:sp>
      <p:sp>
        <p:nvSpPr>
          <p:cNvPr id="22" name="Rounded Rectangle 21"/>
          <p:cNvSpPr/>
          <p:nvPr/>
        </p:nvSpPr>
        <p:spPr>
          <a:xfrm>
            <a:off x="7269480" y="1627632"/>
            <a:ext cx="3931920" cy="3246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69480" y="1627632"/>
            <a:ext cx="73152" cy="324612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70648" y="1783080"/>
            <a:ext cx="3566160" cy="32004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How to interpret</a:t>
            </a:r>
          </a:p>
        </p:txBody>
      </p:sp>
      <p:sp>
        <p:nvSpPr>
          <p:cNvPr id="25" name="TextBox 24"/>
          <p:cNvSpPr txBox="1"/>
          <p:nvPr/>
        </p:nvSpPr>
        <p:spPr>
          <a:xfrm>
            <a:off x="7470648" y="2194560"/>
            <a:ext cx="3566160" cy="2532887"/>
          </a:xfrm>
          <a:prstGeom prst="rect">
            <a:avLst/>
          </a:prstGeom>
          <a:noFill/>
        </p:spPr>
        <p:txBody>
          <a:bodyPr wrap="square" lIns="36576" tIns="36576" rIns="36576" bIns="36576" anchor="t">
            <a:spAutoFit/>
          </a:bodyPr>
          <a:lstStyle/>
          <a:p>
            <a:pPr algn="l">
              <a:spcAft>
                <a:spcPts val="0"/>
              </a:spcAft>
            </a:pPr>
            <a:r>
              <a:rPr sz="1500" b="0" i="0">
                <a:solidFill>
                  <a:srgbClr val="5E6F82"/>
                </a:solidFill>
                <a:latin typeface="Aptos"/>
              </a:rPr>
              <a:t>The p-value indicates evidence against the null hypothesis. Cramér’s V is small (0.07748), so statistical significance does not imply a large practical effect.</a:t>
            </a:r>
          </a:p>
        </p:txBody>
      </p:sp>
      <p:sp>
        <p:nvSpPr>
          <p:cNvPr id="26" name="TextBox 25"/>
          <p:cNvSpPr txBox="1"/>
          <p:nvPr/>
        </p:nvSpPr>
        <p:spPr>
          <a:xfrm>
            <a:off x="896112" y="5074920"/>
            <a:ext cx="10424160" cy="45720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Emotion labels describe model outputs—not verified psychological states.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RESULTS • TOPIC MODELLING</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Topic modelling: candidate themes, not ground truth</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08</a:t>
            </a:r>
          </a:p>
        </p:txBody>
      </p:sp>
      <p:sp>
        <p:nvSpPr>
          <p:cNvPr id="6" name="Rounded Rectangle 5"/>
          <p:cNvSpPr/>
          <p:nvPr/>
        </p:nvSpPr>
        <p:spPr>
          <a:xfrm>
            <a:off x="804672" y="1572768"/>
            <a:ext cx="3383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672" y="1572768"/>
            <a:ext cx="73152" cy="1965960"/>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28216"/>
            <a:ext cx="3017520" cy="320040"/>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NMF</a:t>
            </a:r>
          </a:p>
        </p:txBody>
      </p:sp>
      <p:sp>
        <p:nvSpPr>
          <p:cNvPr id="9" name="TextBox 8"/>
          <p:cNvSpPr txBox="1"/>
          <p:nvPr/>
        </p:nvSpPr>
        <p:spPr>
          <a:xfrm>
            <a:off x="1005840" y="2139696"/>
            <a:ext cx="3017520" cy="1252728"/>
          </a:xfrm>
          <a:prstGeom prst="rect">
            <a:avLst/>
          </a:prstGeom>
          <a:noFill/>
        </p:spPr>
        <p:txBody>
          <a:bodyPr wrap="square" lIns="36576" tIns="36576" rIns="36576" bIns="36576" anchor="t">
            <a:spAutoFit/>
          </a:bodyPr>
          <a:lstStyle/>
          <a:p>
            <a:pPr algn="l">
              <a:spcAft>
                <a:spcPts val="0"/>
              </a:spcAft>
            </a:pPr>
            <a:r>
              <a:rPr sz="1400" b="0" i="0">
                <a:solidFill>
                  <a:srgbClr val="5E6F82"/>
                </a:solidFill>
                <a:latin typeface="Aptos"/>
              </a:rPr>
              <a:t>A model-based approach used to identify recurring word-pattern themes in text.</a:t>
            </a:r>
          </a:p>
        </p:txBody>
      </p:sp>
      <p:sp>
        <p:nvSpPr>
          <p:cNvPr id="10" name="Rounded Rectangle 9"/>
          <p:cNvSpPr/>
          <p:nvPr/>
        </p:nvSpPr>
        <p:spPr>
          <a:xfrm>
            <a:off x="4407408" y="1572768"/>
            <a:ext cx="3383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07408" y="1572768"/>
            <a:ext cx="73152" cy="196596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08576" y="1728216"/>
            <a:ext cx="3017520" cy="320040"/>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Semantic K-means</a:t>
            </a:r>
          </a:p>
        </p:txBody>
      </p:sp>
      <p:sp>
        <p:nvSpPr>
          <p:cNvPr id="13" name="TextBox 12"/>
          <p:cNvSpPr txBox="1"/>
          <p:nvPr/>
        </p:nvSpPr>
        <p:spPr>
          <a:xfrm>
            <a:off x="4608576" y="2139696"/>
            <a:ext cx="3017520" cy="1252728"/>
          </a:xfrm>
          <a:prstGeom prst="rect">
            <a:avLst/>
          </a:prstGeom>
          <a:noFill/>
        </p:spPr>
        <p:txBody>
          <a:bodyPr wrap="square" lIns="36576" tIns="36576" rIns="36576" bIns="36576" anchor="t">
            <a:spAutoFit/>
          </a:bodyPr>
          <a:lstStyle/>
          <a:p>
            <a:pPr algn="l">
              <a:spcAft>
                <a:spcPts val="0"/>
              </a:spcAft>
            </a:pPr>
            <a:r>
              <a:rPr sz="1400" b="0" i="0">
                <a:solidFill>
                  <a:srgbClr val="5E6F82"/>
                </a:solidFill>
                <a:latin typeface="Aptos"/>
              </a:rPr>
              <a:t>A second topic-clustering approach included in the temporal audit outputs.</a:t>
            </a:r>
          </a:p>
        </p:txBody>
      </p:sp>
      <p:sp>
        <p:nvSpPr>
          <p:cNvPr id="14" name="Rounded Rectangle 13"/>
          <p:cNvSpPr/>
          <p:nvPr/>
        </p:nvSpPr>
        <p:spPr>
          <a:xfrm>
            <a:off x="8010144" y="1572768"/>
            <a:ext cx="33832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10144" y="1572768"/>
            <a:ext cx="73152" cy="1965960"/>
          </a:xfrm>
          <a:prstGeom prst="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11312" y="1728216"/>
            <a:ext cx="3017520" cy="320040"/>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Label interpretation</a:t>
            </a:r>
          </a:p>
        </p:txBody>
      </p:sp>
      <p:sp>
        <p:nvSpPr>
          <p:cNvPr id="17" name="TextBox 16"/>
          <p:cNvSpPr txBox="1"/>
          <p:nvPr/>
        </p:nvSpPr>
        <p:spPr>
          <a:xfrm>
            <a:off x="8211312" y="2139696"/>
            <a:ext cx="3017520" cy="1252728"/>
          </a:xfrm>
          <a:prstGeom prst="rect">
            <a:avLst/>
          </a:prstGeom>
          <a:noFill/>
        </p:spPr>
        <p:txBody>
          <a:bodyPr wrap="square" lIns="36576" tIns="36576" rIns="36576" bIns="36576" anchor="t">
            <a:spAutoFit/>
          </a:bodyPr>
          <a:lstStyle/>
          <a:p>
            <a:pPr algn="l">
              <a:spcAft>
                <a:spcPts val="0"/>
              </a:spcAft>
            </a:pPr>
            <a:r>
              <a:rPr sz="1400" b="0" i="0">
                <a:solidFill>
                  <a:srgbClr val="5E6F82"/>
                </a:solidFill>
                <a:latin typeface="Aptos"/>
              </a:rPr>
              <a:t>Topic labels summarise clusters and require contextual review; they are not ground-truth categories.</a:t>
            </a:r>
          </a:p>
        </p:txBody>
      </p:sp>
      <p:sp>
        <p:nvSpPr>
          <p:cNvPr id="18" name="TextBox 17"/>
          <p:cNvSpPr txBox="1"/>
          <p:nvPr/>
        </p:nvSpPr>
        <p:spPr>
          <a:xfrm>
            <a:off x="868680" y="4069080"/>
            <a:ext cx="3840480" cy="320040"/>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What the quality audit found</a:t>
            </a:r>
          </a:p>
        </p:txBody>
      </p:sp>
      <p:sp>
        <p:nvSpPr>
          <p:cNvPr id="19" name="TextBox 18"/>
          <p:cNvSpPr txBox="1"/>
          <p:nvPr/>
        </p:nvSpPr>
        <p:spPr>
          <a:xfrm>
            <a:off x="914400" y="4526280"/>
            <a:ext cx="10332720" cy="1280160"/>
          </a:xfrm>
          <a:prstGeom prst="rect">
            <a:avLst/>
          </a:prstGeom>
          <a:noFill/>
        </p:spPr>
        <p:txBody>
          <a:bodyPr wrap="square" lIns="27432" tIns="18288" rIns="27432" bIns="18288">
            <a:spAutoFit/>
          </a:bodyPr>
          <a:lstStyle/>
          <a:p>
            <a:pPr>
              <a:spcAft>
                <a:spcPts val="700"/>
              </a:spcAft>
              <a:defRPr sz="1600">
                <a:solidFill>
                  <a:srgbClr val="1E2B3B"/>
                </a:solidFill>
                <a:latin typeface="Aptos"/>
              </a:defRPr>
            </a:pPr>
            <a:r>
              <a:t>•  40 model/community/topic groups in the consolidated dictionary.</a:t>
            </a:r>
          </a:p>
          <a:p>
            <a:pPr>
              <a:spcAft>
                <a:spcPts val="700"/>
              </a:spcAft>
              <a:defRPr sz="1600">
                <a:solidFill>
                  <a:srgbClr val="1E2B3B"/>
                </a:solidFill>
                <a:latin typeface="Aptos"/>
              </a:defRPr>
            </a:pPr>
            <a:r>
              <a:t>•  No missing labels and no exact duplicate labels in the reported audit.</a:t>
            </a:r>
          </a:p>
          <a:p>
            <a:pPr>
              <a:spcAft>
                <a:spcPts val="700"/>
              </a:spcAft>
              <a:defRPr sz="1600">
                <a:solidFill>
                  <a:srgbClr val="1E2B3B"/>
                </a:solidFill>
                <a:latin typeface="Aptos"/>
              </a:defRPr>
            </a:pPr>
            <a:r>
              <a:t>•  Two lexically similar label pairs were flagged; lexical similarity does not prove semantic identity.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QUALITY ASSURANCE</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Topic dictionary: review status</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09</a:t>
            </a:r>
          </a:p>
        </p:txBody>
      </p:sp>
      <p:sp>
        <p:nvSpPr>
          <p:cNvPr id="6" name="Rounded Rectangle 5"/>
          <p:cNvSpPr/>
          <p:nvPr/>
        </p:nvSpPr>
        <p:spPr>
          <a:xfrm>
            <a:off x="868680" y="1600200"/>
            <a:ext cx="306324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1874519"/>
            <a:ext cx="2514600" cy="868680"/>
          </a:xfrm>
          <a:prstGeom prst="rect">
            <a:avLst/>
          </a:prstGeom>
          <a:noFill/>
        </p:spPr>
        <p:txBody>
          <a:bodyPr wrap="square" lIns="36576" tIns="36576" rIns="36576" bIns="36576" anchor="t">
            <a:spAutoFit/>
          </a:bodyPr>
          <a:lstStyle/>
          <a:p>
            <a:pPr algn="ctr">
              <a:spcAft>
                <a:spcPts val="0"/>
              </a:spcAft>
            </a:pPr>
            <a:r>
              <a:rPr sz="4200" b="1" i="0">
                <a:solidFill>
                  <a:srgbClr val="101F37"/>
                </a:solidFill>
                <a:latin typeface="Aptos"/>
              </a:rPr>
              <a:t>40</a:t>
            </a:r>
          </a:p>
        </p:txBody>
      </p:sp>
      <p:sp>
        <p:nvSpPr>
          <p:cNvPr id="8" name="TextBox 7"/>
          <p:cNvSpPr txBox="1"/>
          <p:nvPr/>
        </p:nvSpPr>
        <p:spPr>
          <a:xfrm>
            <a:off x="1078992" y="2907792"/>
            <a:ext cx="2651760" cy="502920"/>
          </a:xfrm>
          <a:prstGeom prst="rect">
            <a:avLst/>
          </a:prstGeom>
          <a:noFill/>
        </p:spPr>
        <p:txBody>
          <a:bodyPr wrap="square" lIns="36576" tIns="36576" rIns="36576" bIns="36576" anchor="t">
            <a:spAutoFit/>
          </a:bodyPr>
          <a:lstStyle/>
          <a:p>
            <a:pPr algn="ctr">
              <a:spcAft>
                <a:spcPts val="0"/>
              </a:spcAft>
            </a:pPr>
            <a:r>
              <a:rPr sz="1100" b="1" i="0">
                <a:solidFill>
                  <a:srgbClr val="5E6F82"/>
                </a:solidFill>
                <a:latin typeface="Aptos"/>
              </a:rPr>
              <a:t>MODEL / COMMUNITY / TOPIC GROUPS</a:t>
            </a:r>
          </a:p>
        </p:txBody>
      </p:sp>
      <p:sp>
        <p:nvSpPr>
          <p:cNvPr id="9" name="Rounded Rectangle 8"/>
          <p:cNvSpPr/>
          <p:nvPr/>
        </p:nvSpPr>
        <p:spPr>
          <a:xfrm>
            <a:off x="4526280" y="1600200"/>
            <a:ext cx="3063240" cy="2331720"/>
          </a:xfrm>
          <a:prstGeom prst="roundRect">
            <a:avLst/>
          </a:prstGeom>
          <a:solidFill>
            <a:srgbClr val="DD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73168" y="1874519"/>
            <a:ext cx="2514600" cy="868680"/>
          </a:xfrm>
          <a:prstGeom prst="rect">
            <a:avLst/>
          </a:prstGeom>
          <a:noFill/>
        </p:spPr>
        <p:txBody>
          <a:bodyPr wrap="square" lIns="36576" tIns="36576" rIns="36576" bIns="36576" anchor="t">
            <a:spAutoFit/>
          </a:bodyPr>
          <a:lstStyle/>
          <a:p>
            <a:pPr algn="ctr">
              <a:spcAft>
                <a:spcPts val="0"/>
              </a:spcAft>
            </a:pPr>
            <a:r>
              <a:rPr sz="4200" b="1" i="0">
                <a:solidFill>
                  <a:srgbClr val="2D926F"/>
                </a:solidFill>
                <a:latin typeface="Aptos"/>
              </a:rPr>
              <a:t>35</a:t>
            </a:r>
          </a:p>
        </p:txBody>
      </p:sp>
      <p:sp>
        <p:nvSpPr>
          <p:cNvPr id="11" name="TextBox 10"/>
          <p:cNvSpPr txBox="1"/>
          <p:nvPr/>
        </p:nvSpPr>
        <p:spPr>
          <a:xfrm>
            <a:off x="4736592" y="2907792"/>
            <a:ext cx="2651760" cy="502920"/>
          </a:xfrm>
          <a:prstGeom prst="rect">
            <a:avLst/>
          </a:prstGeom>
          <a:noFill/>
        </p:spPr>
        <p:txBody>
          <a:bodyPr wrap="square" lIns="36576" tIns="36576" rIns="36576" bIns="36576" anchor="t">
            <a:spAutoFit/>
          </a:bodyPr>
          <a:lstStyle/>
          <a:p>
            <a:pPr algn="ctr">
              <a:spcAft>
                <a:spcPts val="0"/>
              </a:spcAft>
            </a:pPr>
            <a:r>
              <a:rPr sz="1100" b="1" i="0">
                <a:solidFill>
                  <a:srgbClr val="101F37"/>
                </a:solidFill>
                <a:latin typeface="Aptos"/>
              </a:rPr>
              <a:t>RECORDED AS ACCEPT</a:t>
            </a:r>
          </a:p>
        </p:txBody>
      </p:sp>
      <p:sp>
        <p:nvSpPr>
          <p:cNvPr id="12" name="Rounded Rectangle 11"/>
          <p:cNvSpPr/>
          <p:nvPr/>
        </p:nvSpPr>
        <p:spPr>
          <a:xfrm>
            <a:off x="8183879" y="1600200"/>
            <a:ext cx="3063240" cy="2331720"/>
          </a:xfrm>
          <a:prstGeom prst="roundRect">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30768" y="1874519"/>
            <a:ext cx="2514600" cy="868680"/>
          </a:xfrm>
          <a:prstGeom prst="rect">
            <a:avLst/>
          </a:prstGeom>
          <a:noFill/>
        </p:spPr>
        <p:txBody>
          <a:bodyPr wrap="square" lIns="36576" tIns="36576" rIns="36576" bIns="36576" anchor="t">
            <a:spAutoFit/>
          </a:bodyPr>
          <a:lstStyle/>
          <a:p>
            <a:pPr algn="ctr">
              <a:spcAft>
                <a:spcPts val="0"/>
              </a:spcAft>
            </a:pPr>
            <a:r>
              <a:rPr sz="4200" b="1" i="0">
                <a:solidFill>
                  <a:srgbClr val="A46811"/>
                </a:solidFill>
                <a:latin typeface="Aptos"/>
              </a:rPr>
              <a:t>5</a:t>
            </a:r>
          </a:p>
        </p:txBody>
      </p:sp>
      <p:sp>
        <p:nvSpPr>
          <p:cNvPr id="14" name="TextBox 13"/>
          <p:cNvSpPr txBox="1"/>
          <p:nvPr/>
        </p:nvSpPr>
        <p:spPr>
          <a:xfrm>
            <a:off x="8394192" y="2907792"/>
            <a:ext cx="2651760" cy="502920"/>
          </a:xfrm>
          <a:prstGeom prst="rect">
            <a:avLst/>
          </a:prstGeom>
          <a:noFill/>
        </p:spPr>
        <p:txBody>
          <a:bodyPr wrap="square" lIns="36576" tIns="36576" rIns="36576" bIns="36576" anchor="t">
            <a:spAutoFit/>
          </a:bodyPr>
          <a:lstStyle/>
          <a:p>
            <a:pPr algn="ctr">
              <a:spcAft>
                <a:spcPts val="0"/>
              </a:spcAft>
            </a:pPr>
            <a:r>
              <a:rPr sz="1100" b="1" i="0">
                <a:solidFill>
                  <a:srgbClr val="101F37"/>
                </a:solidFill>
                <a:latin typeface="Aptos"/>
              </a:rPr>
              <a:t>RECORDED DO_NOT_LABEL</a:t>
            </a:r>
          </a:p>
        </p:txBody>
      </p:sp>
      <p:sp>
        <p:nvSpPr>
          <p:cNvPr id="15" name="Rounded Rectangle 14"/>
          <p:cNvSpPr/>
          <p:nvPr/>
        </p:nvSpPr>
        <p:spPr>
          <a:xfrm>
            <a:off x="914400" y="4434840"/>
            <a:ext cx="10287000" cy="1005840"/>
          </a:xfrm>
          <a:prstGeom prst="roundRect">
            <a:avLst/>
          </a:prstGeom>
          <a:solidFill>
            <a:srgbClr val="182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34440" y="4736592"/>
            <a:ext cx="9646920" cy="384048"/>
          </a:xfrm>
          <a:prstGeom prst="rect">
            <a:avLst/>
          </a:prstGeom>
          <a:noFill/>
        </p:spPr>
        <p:txBody>
          <a:bodyPr wrap="square" lIns="36576" tIns="36576" rIns="36576" bIns="36576" anchor="t">
            <a:spAutoFit/>
          </a:bodyPr>
          <a:lstStyle/>
          <a:p>
            <a:pPr algn="ctr">
              <a:spcAft>
                <a:spcPts val="0"/>
              </a:spcAft>
            </a:pPr>
            <a:r>
              <a:rPr sz="1700" b="1" i="0">
                <a:solidFill>
                  <a:srgbClr val="FFFFFF"/>
                </a:solidFill>
                <a:latin typeface="Aptos"/>
              </a:rPr>
              <a:t>Critical caveat: batch approval is not independent example-by-example human validation.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VALIDATION</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Statistical testing and reproducibility</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10</a:t>
            </a:r>
          </a:p>
        </p:txBody>
      </p:sp>
      <p:sp>
        <p:nvSpPr>
          <p:cNvPr id="6" name="Rounded Rectangle 5"/>
          <p:cNvSpPr/>
          <p:nvPr/>
        </p:nvSpPr>
        <p:spPr>
          <a:xfrm>
            <a:off x="914400" y="1645920"/>
            <a:ext cx="4663440"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34440" y="1938528"/>
            <a:ext cx="4023360" cy="749808"/>
          </a:xfrm>
          <a:prstGeom prst="rect">
            <a:avLst/>
          </a:prstGeom>
          <a:noFill/>
        </p:spPr>
        <p:txBody>
          <a:bodyPr wrap="square" lIns="36576" tIns="36576" rIns="36576" bIns="36576" anchor="t">
            <a:spAutoFit/>
          </a:bodyPr>
          <a:lstStyle/>
          <a:p>
            <a:pPr algn="ctr">
              <a:spcAft>
                <a:spcPts val="0"/>
              </a:spcAft>
            </a:pPr>
            <a:r>
              <a:rPr sz="3800" b="1" i="0">
                <a:solidFill>
                  <a:srgbClr val="1CB3A6"/>
                </a:solidFill>
                <a:latin typeface="Aptos"/>
              </a:rPr>
              <a:t>25/25</a:t>
            </a:r>
          </a:p>
        </p:txBody>
      </p:sp>
      <p:sp>
        <p:nvSpPr>
          <p:cNvPr id="8" name="TextBox 7"/>
          <p:cNvSpPr txBox="1"/>
          <p:nvPr/>
        </p:nvSpPr>
        <p:spPr>
          <a:xfrm>
            <a:off x="1188720" y="2880360"/>
            <a:ext cx="4114800" cy="548640"/>
          </a:xfrm>
          <a:prstGeom prst="rect">
            <a:avLst/>
          </a:prstGeom>
          <a:noFill/>
        </p:spPr>
        <p:txBody>
          <a:bodyPr wrap="square" lIns="36576" tIns="36576" rIns="36576" bIns="36576" anchor="t">
            <a:spAutoFit/>
          </a:bodyPr>
          <a:lstStyle/>
          <a:p>
            <a:pPr algn="ctr">
              <a:spcAft>
                <a:spcPts val="0"/>
              </a:spcAft>
            </a:pPr>
            <a:r>
              <a:rPr sz="1300" b="1" i="0">
                <a:solidFill>
                  <a:srgbClr val="101F37"/>
                </a:solidFill>
                <a:latin typeface="Aptos"/>
              </a:rPr>
              <a:t>KRUSKAL–WALLIS REPRODUCTIONS PASSED</a:t>
            </a:r>
          </a:p>
        </p:txBody>
      </p:sp>
      <p:sp>
        <p:nvSpPr>
          <p:cNvPr id="9" name="Rounded Rectangle 8"/>
          <p:cNvSpPr/>
          <p:nvPr/>
        </p:nvSpPr>
        <p:spPr>
          <a:xfrm>
            <a:off x="6583680" y="1645920"/>
            <a:ext cx="4663440" cy="2240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03720" y="1938528"/>
            <a:ext cx="4023360" cy="749808"/>
          </a:xfrm>
          <a:prstGeom prst="rect">
            <a:avLst/>
          </a:prstGeom>
          <a:noFill/>
        </p:spPr>
        <p:txBody>
          <a:bodyPr wrap="square" lIns="36576" tIns="36576" rIns="36576" bIns="36576" anchor="t">
            <a:spAutoFit/>
          </a:bodyPr>
          <a:lstStyle/>
          <a:p>
            <a:pPr algn="ctr">
              <a:spcAft>
                <a:spcPts val="0"/>
              </a:spcAft>
            </a:pPr>
            <a:r>
              <a:rPr sz="3800" b="1" i="0">
                <a:solidFill>
                  <a:srgbClr val="1CB3A6"/>
                </a:solidFill>
                <a:latin typeface="Aptos"/>
              </a:rPr>
              <a:t>150/150</a:t>
            </a:r>
          </a:p>
        </p:txBody>
      </p:sp>
      <p:sp>
        <p:nvSpPr>
          <p:cNvPr id="11" name="TextBox 10"/>
          <p:cNvSpPr txBox="1"/>
          <p:nvPr/>
        </p:nvSpPr>
        <p:spPr>
          <a:xfrm>
            <a:off x="6858000" y="2880360"/>
            <a:ext cx="4114800" cy="548640"/>
          </a:xfrm>
          <a:prstGeom prst="rect">
            <a:avLst/>
          </a:prstGeom>
          <a:noFill/>
        </p:spPr>
        <p:txBody>
          <a:bodyPr wrap="square" lIns="36576" tIns="36576" rIns="36576" bIns="36576" anchor="t">
            <a:spAutoFit/>
          </a:bodyPr>
          <a:lstStyle/>
          <a:p>
            <a:pPr algn="ctr">
              <a:spcAft>
                <a:spcPts val="0"/>
              </a:spcAft>
            </a:pPr>
            <a:r>
              <a:rPr sz="1300" b="1" i="0">
                <a:solidFill>
                  <a:srgbClr val="101F37"/>
                </a:solidFill>
                <a:latin typeface="Aptos"/>
              </a:rPr>
              <a:t>PAIRWISE COMPARISON REPRODUCTIONS PASSED</a:t>
            </a:r>
          </a:p>
        </p:txBody>
      </p:sp>
      <p:sp>
        <p:nvSpPr>
          <p:cNvPr id="12" name="TextBox 11"/>
          <p:cNvSpPr txBox="1"/>
          <p:nvPr/>
        </p:nvSpPr>
        <p:spPr>
          <a:xfrm>
            <a:off x="960120" y="4343400"/>
            <a:ext cx="10332720" cy="640080"/>
          </a:xfrm>
          <a:prstGeom prst="rect">
            <a:avLst/>
          </a:prstGeom>
          <a:noFill/>
        </p:spPr>
        <p:txBody>
          <a:bodyPr wrap="square" lIns="36576" tIns="36576" rIns="36576" bIns="36576" anchor="t">
            <a:spAutoFit/>
          </a:bodyPr>
          <a:lstStyle/>
          <a:p>
            <a:pPr algn="l">
              <a:spcAft>
                <a:spcPts val="0"/>
              </a:spcAft>
            </a:pPr>
            <a:r>
              <a:rPr sz="1700" b="1" i="0">
                <a:solidFill>
                  <a:srgbClr val="101F37"/>
                </a:solidFill>
                <a:latin typeface="Aptos"/>
              </a:rPr>
              <a:t>Saved analyses flagged 22/25 omnibus tests and 91/150 pairwise comparisons as significant after Holm adjustment.</a:t>
            </a:r>
          </a:p>
        </p:txBody>
      </p:sp>
      <p:sp>
        <p:nvSpPr>
          <p:cNvPr id="13" name="TextBox 12"/>
          <p:cNvSpPr txBox="1"/>
          <p:nvPr/>
        </p:nvSpPr>
        <p:spPr>
          <a:xfrm>
            <a:off x="960120" y="5257800"/>
            <a:ext cx="10332720" cy="502920"/>
          </a:xfrm>
          <a:prstGeom prst="rect">
            <a:avLst/>
          </a:prstGeom>
          <a:noFill/>
        </p:spPr>
        <p:txBody>
          <a:bodyPr wrap="square" lIns="36576" tIns="36576" rIns="36576" bIns="36576" anchor="t">
            <a:spAutoFit/>
          </a:bodyPr>
          <a:lstStyle/>
          <a:p>
            <a:pPr algn="l">
              <a:spcAft>
                <a:spcPts val="0"/>
              </a:spcAft>
            </a:pPr>
            <a:r>
              <a:rPr sz="1500" b="1" i="0">
                <a:solidFill>
                  <a:srgbClr val="C45353"/>
                </a:solidFill>
                <a:latin typeface="Aptos"/>
              </a:rPr>
              <a:t>Reproduction supports calculation consistency against saved inputs—not model accuracy, representativeness, or causality.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TEMPORAL COVERAGE</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Temporal audit: a major constraint</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11</a:t>
            </a:r>
          </a:p>
        </p:txBody>
      </p:sp>
      <p:sp>
        <p:nvSpPr>
          <p:cNvPr id="6" name="TextBox 5"/>
          <p:cNvSpPr txBox="1"/>
          <p:nvPr/>
        </p:nvSpPr>
        <p:spPr>
          <a:xfrm>
            <a:off x="868680" y="1600200"/>
            <a:ext cx="5120640" cy="822960"/>
          </a:xfrm>
          <a:prstGeom prst="rect">
            <a:avLst/>
          </a:prstGeom>
          <a:noFill/>
        </p:spPr>
        <p:txBody>
          <a:bodyPr wrap="square" lIns="36576" tIns="36576" rIns="36576" bIns="36576" anchor="t">
            <a:spAutoFit/>
          </a:bodyPr>
          <a:lstStyle/>
          <a:p>
            <a:pPr algn="l">
              <a:spcAft>
                <a:spcPts val="0"/>
              </a:spcAft>
            </a:pPr>
            <a:r>
              <a:rPr sz="3800" b="1" i="0">
                <a:solidFill>
                  <a:srgbClr val="101F37"/>
                </a:solidFill>
                <a:latin typeface="Aptos"/>
              </a:rPr>
              <a:t>3,899 / 4,026</a:t>
            </a:r>
          </a:p>
        </p:txBody>
      </p:sp>
      <p:sp>
        <p:nvSpPr>
          <p:cNvPr id="7" name="TextBox 6"/>
          <p:cNvSpPr txBox="1"/>
          <p:nvPr/>
        </p:nvSpPr>
        <p:spPr>
          <a:xfrm>
            <a:off x="914400" y="2450592"/>
            <a:ext cx="5852160" cy="594360"/>
          </a:xfrm>
          <a:prstGeom prst="rect">
            <a:avLst/>
          </a:prstGeom>
          <a:noFill/>
        </p:spPr>
        <p:txBody>
          <a:bodyPr wrap="square" lIns="36576" tIns="36576" rIns="36576" bIns="36576" anchor="t">
            <a:spAutoFit/>
          </a:bodyPr>
          <a:lstStyle/>
          <a:p>
            <a:pPr algn="l">
              <a:spcAft>
                <a:spcPts val="0"/>
              </a:spcAft>
            </a:pPr>
            <a:r>
              <a:rPr sz="1700" b="1" i="0">
                <a:solidFill>
                  <a:srgbClr val="1CB3A6"/>
                </a:solidFill>
                <a:latin typeface="Aptos"/>
              </a:rPr>
              <a:t>96.85% of topic/temporal records are from February 2016</a:t>
            </a:r>
          </a:p>
        </p:txBody>
      </p:sp>
      <p:sp>
        <p:nvSpPr>
          <p:cNvPr id="8" name="Rounded Rectangle 7"/>
          <p:cNvSpPr/>
          <p:nvPr/>
        </p:nvSpPr>
        <p:spPr>
          <a:xfrm>
            <a:off x="914400" y="3291840"/>
            <a:ext cx="6400800" cy="438912"/>
          </a:xfrm>
          <a:prstGeom prst="roundRect">
            <a:avLst/>
          </a:prstGeom>
          <a:solidFill>
            <a:srgbClr val="E3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3291840"/>
            <a:ext cx="6198887" cy="438912"/>
          </a:xfrm>
          <a:prstGeom prst="round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840480"/>
            <a:ext cx="2011680" cy="274320"/>
          </a:xfrm>
          <a:prstGeom prst="rect">
            <a:avLst/>
          </a:prstGeom>
          <a:noFill/>
        </p:spPr>
        <p:txBody>
          <a:bodyPr wrap="square" lIns="36576" tIns="36576" rIns="36576" bIns="36576" anchor="t">
            <a:spAutoFit/>
          </a:bodyPr>
          <a:lstStyle/>
          <a:p>
            <a:pPr algn="l">
              <a:spcAft>
                <a:spcPts val="0"/>
              </a:spcAft>
            </a:pPr>
            <a:r>
              <a:rPr sz="1200" b="1" i="0">
                <a:solidFill>
                  <a:srgbClr val="101F37"/>
                </a:solidFill>
                <a:latin typeface="Aptos"/>
              </a:rPr>
              <a:t>February 2016</a:t>
            </a:r>
          </a:p>
        </p:txBody>
      </p:sp>
      <p:sp>
        <p:nvSpPr>
          <p:cNvPr id="11" name="TextBox 10"/>
          <p:cNvSpPr txBox="1"/>
          <p:nvPr/>
        </p:nvSpPr>
        <p:spPr>
          <a:xfrm>
            <a:off x="4572000" y="3840480"/>
            <a:ext cx="3108960" cy="274320"/>
          </a:xfrm>
          <a:prstGeom prst="rect">
            <a:avLst/>
          </a:prstGeom>
          <a:noFill/>
        </p:spPr>
        <p:txBody>
          <a:bodyPr wrap="square" lIns="36576" tIns="36576" rIns="36576" bIns="36576" anchor="t">
            <a:spAutoFit/>
          </a:bodyPr>
          <a:lstStyle/>
          <a:p>
            <a:pPr algn="r">
              <a:spcAft>
                <a:spcPts val="0"/>
              </a:spcAft>
            </a:pPr>
            <a:r>
              <a:rPr sz="1200" b="1" i="0">
                <a:solidFill>
                  <a:srgbClr val="5E6F82"/>
                </a:solidFill>
                <a:latin typeface="Aptos"/>
              </a:rPr>
              <a:t>All other months combined: 127 records</a:t>
            </a:r>
          </a:p>
        </p:txBody>
      </p:sp>
      <p:sp>
        <p:nvSpPr>
          <p:cNvPr id="12" name="Rounded Rectangle 11"/>
          <p:cNvSpPr/>
          <p:nvPr/>
        </p:nvSpPr>
        <p:spPr>
          <a:xfrm>
            <a:off x="7955279" y="1600200"/>
            <a:ext cx="3246120"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55279" y="1600200"/>
            <a:ext cx="73152" cy="278892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1755648"/>
            <a:ext cx="2880360"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Coverage snapshot</a:t>
            </a:r>
          </a:p>
        </p:txBody>
      </p:sp>
      <p:sp>
        <p:nvSpPr>
          <p:cNvPr id="15" name="TextBox 14"/>
          <p:cNvSpPr txBox="1"/>
          <p:nvPr/>
        </p:nvSpPr>
        <p:spPr>
          <a:xfrm>
            <a:off x="8156448" y="2167128"/>
            <a:ext cx="2880360" cy="2075687"/>
          </a:xfrm>
          <a:prstGeom prst="rect">
            <a:avLst/>
          </a:prstGeom>
          <a:noFill/>
        </p:spPr>
        <p:txBody>
          <a:bodyPr wrap="square" lIns="36576" tIns="36576" rIns="36576" bIns="36576" anchor="t">
            <a:spAutoFit/>
          </a:bodyPr>
          <a:lstStyle/>
          <a:p>
            <a:pPr algn="l">
              <a:spcAft>
                <a:spcPts val="0"/>
              </a:spcAft>
            </a:pPr>
            <a:r>
              <a:rPr sz="1400" b="0" i="0">
                <a:solidFill>
                  <a:srgbClr val="5E6F82"/>
                </a:solidFill>
                <a:latin typeface="Aptos"/>
              </a:rPr>
              <a:t>Date range: 31 Oct 2014 – 17 Feb 2016
10 of 17 calendar months have records
7 months have zero records</a:t>
            </a:r>
          </a:p>
        </p:txBody>
      </p:sp>
      <p:sp>
        <p:nvSpPr>
          <p:cNvPr id="16" name="Rounded Rectangle 15"/>
          <p:cNvSpPr/>
          <p:nvPr/>
        </p:nvSpPr>
        <p:spPr>
          <a:xfrm>
            <a:off x="914400" y="4800600"/>
            <a:ext cx="10241280" cy="822960"/>
          </a:xfrm>
          <a:prstGeom prst="roundRect">
            <a:avLst/>
          </a:prstGeom>
          <a:solidFill>
            <a:srgbClr val="182F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88720" y="5038344"/>
            <a:ext cx="9692640" cy="347472"/>
          </a:xfrm>
          <a:prstGeom prst="rect">
            <a:avLst/>
          </a:prstGeom>
          <a:noFill/>
        </p:spPr>
        <p:txBody>
          <a:bodyPr wrap="square" lIns="36576" tIns="36576" rIns="36576" bIns="36576" anchor="t">
            <a:spAutoFit/>
          </a:bodyPr>
          <a:lstStyle/>
          <a:p>
            <a:pPr algn="ctr">
              <a:spcAft>
                <a:spcPts val="0"/>
              </a:spcAft>
            </a:pPr>
            <a:r>
              <a:rPr sz="1600" b="1" i="0">
                <a:solidFill>
                  <a:srgbClr val="FFFFFF"/>
                </a:solidFill>
                <a:latin typeface="Aptos"/>
              </a:rPr>
              <a:t>Do not claim robust continuous month-to-month narrative evolution from this imbalanced corpus.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SYNTHESIS</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What can we conclude?</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12</a:t>
            </a:r>
          </a:p>
        </p:txBody>
      </p:sp>
      <p:sp>
        <p:nvSpPr>
          <p:cNvPr id="6" name="Rounded Rectangle 5"/>
          <p:cNvSpPr/>
          <p:nvPr/>
        </p:nvSpPr>
        <p:spPr>
          <a:xfrm>
            <a:off x="777240" y="1572768"/>
            <a:ext cx="507492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572768"/>
            <a:ext cx="73152" cy="1417320"/>
          </a:xfrm>
          <a:prstGeom prst="rect">
            <a:avLst/>
          </a:prstGeom>
          <a:solidFill>
            <a:srgbClr val="1C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728216"/>
            <a:ext cx="4709159"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Supported</a:t>
            </a:r>
          </a:p>
        </p:txBody>
      </p:sp>
      <p:sp>
        <p:nvSpPr>
          <p:cNvPr id="9" name="TextBox 8"/>
          <p:cNvSpPr txBox="1"/>
          <p:nvPr/>
        </p:nvSpPr>
        <p:spPr>
          <a:xfrm>
            <a:off x="978408" y="2139696"/>
            <a:ext cx="4709159" cy="70408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Descriptive comparisons across the four collected communities; model agreement estimates; statistical associations; reproducible saved calculations.</a:t>
            </a:r>
          </a:p>
        </p:txBody>
      </p:sp>
      <p:sp>
        <p:nvSpPr>
          <p:cNvPr id="10" name="Rounded Rectangle 9"/>
          <p:cNvSpPr/>
          <p:nvPr/>
        </p:nvSpPr>
        <p:spPr>
          <a:xfrm>
            <a:off x="6263640" y="1572768"/>
            <a:ext cx="507492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572768"/>
            <a:ext cx="73152" cy="1417320"/>
          </a:xfrm>
          <a:prstGeom prst="rect">
            <a:avLst/>
          </a:prstGeom>
          <a:solidFill>
            <a:srgbClr val="F5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7" y="1728216"/>
            <a:ext cx="4709159"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Interpret cautiously</a:t>
            </a:r>
          </a:p>
        </p:txBody>
      </p:sp>
      <p:sp>
        <p:nvSpPr>
          <p:cNvPr id="13" name="TextBox 12"/>
          <p:cNvSpPr txBox="1"/>
          <p:nvPr/>
        </p:nvSpPr>
        <p:spPr>
          <a:xfrm>
            <a:off x="6464807" y="2139696"/>
            <a:ext cx="4709159" cy="70408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Small effect sizes, imperfect model agreement, provisional topic labels, and highly imbalanced temporal coverage.</a:t>
            </a:r>
          </a:p>
        </p:txBody>
      </p:sp>
      <p:sp>
        <p:nvSpPr>
          <p:cNvPr id="14" name="Rounded Rectangle 13"/>
          <p:cNvSpPr/>
          <p:nvPr/>
        </p:nvSpPr>
        <p:spPr>
          <a:xfrm>
            <a:off x="777240" y="3429000"/>
            <a:ext cx="507492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 y="3429000"/>
            <a:ext cx="73152" cy="1417320"/>
          </a:xfrm>
          <a:prstGeom prst="rect">
            <a:avLst/>
          </a:prstGeom>
          <a:solidFill>
            <a:srgbClr val="C45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3584448"/>
            <a:ext cx="4709159"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Not established</a:t>
            </a:r>
          </a:p>
        </p:txBody>
      </p:sp>
      <p:sp>
        <p:nvSpPr>
          <p:cNvPr id="17" name="TextBox 16"/>
          <p:cNvSpPr txBox="1"/>
          <p:nvPr/>
        </p:nvSpPr>
        <p:spPr>
          <a:xfrm>
            <a:off x="978408" y="3995928"/>
            <a:ext cx="4709159" cy="70408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Actual psychological states, causal effects, platform-wide representativeness, or robust continuous narrative evolution.</a:t>
            </a:r>
          </a:p>
        </p:txBody>
      </p:sp>
      <p:sp>
        <p:nvSpPr>
          <p:cNvPr id="18" name="Rounded Rectangle 17"/>
          <p:cNvSpPr/>
          <p:nvPr/>
        </p:nvSpPr>
        <p:spPr>
          <a:xfrm>
            <a:off x="6263640" y="3429000"/>
            <a:ext cx="507492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3429000"/>
            <a:ext cx="73152" cy="1417320"/>
          </a:xfrm>
          <a:prstGeom prst="rect">
            <a:avLst/>
          </a:prstGeom>
          <a:solidFill>
            <a:srgbClr val="61D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7" y="3584448"/>
            <a:ext cx="4709159" cy="320040"/>
          </a:xfrm>
          <a:prstGeom prst="rect">
            <a:avLst/>
          </a:prstGeom>
          <a:noFill/>
        </p:spPr>
        <p:txBody>
          <a:bodyPr wrap="square" lIns="36576" tIns="36576" rIns="36576" bIns="36576" anchor="t">
            <a:spAutoFit/>
          </a:bodyPr>
          <a:lstStyle/>
          <a:p>
            <a:pPr algn="l">
              <a:spcAft>
                <a:spcPts val="0"/>
              </a:spcAft>
            </a:pPr>
            <a:r>
              <a:rPr sz="1600" b="1" i="0">
                <a:solidFill>
                  <a:srgbClr val="101F37"/>
                </a:solidFill>
                <a:latin typeface="Aptos"/>
              </a:rPr>
              <a:t>Contribution</a:t>
            </a:r>
          </a:p>
        </p:txBody>
      </p:sp>
      <p:sp>
        <p:nvSpPr>
          <p:cNvPr id="21" name="TextBox 20"/>
          <p:cNvSpPr txBox="1"/>
          <p:nvPr/>
        </p:nvSpPr>
        <p:spPr>
          <a:xfrm>
            <a:off x="6464807" y="3995928"/>
            <a:ext cx="4709159" cy="704088"/>
          </a:xfrm>
          <a:prstGeom prst="rect">
            <a:avLst/>
          </a:prstGeom>
          <a:noFill/>
        </p:spPr>
        <p:txBody>
          <a:bodyPr wrap="square" lIns="36576" tIns="36576" rIns="36576" bIns="36576" anchor="t">
            <a:spAutoFit/>
          </a:bodyPr>
          <a:lstStyle/>
          <a:p>
            <a:pPr algn="l">
              <a:spcAft>
                <a:spcPts val="0"/>
              </a:spcAft>
            </a:pPr>
            <a:r>
              <a:rPr sz="1300" b="0" i="0">
                <a:solidFill>
                  <a:srgbClr val="5E6F82"/>
                </a:solidFill>
                <a:latin typeface="Aptos"/>
              </a:rPr>
              <a:t>An integrated computational workflow paired with statistical reproduction and explicit data-quality audits.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621792" y="320040"/>
            <a:ext cx="10881360" cy="256032"/>
          </a:xfrm>
          <a:prstGeom prst="rect">
            <a:avLst/>
          </a:prstGeom>
          <a:noFill/>
        </p:spPr>
        <p:txBody>
          <a:bodyPr wrap="square" lIns="36576" tIns="36576" rIns="36576" bIns="36576" anchor="t">
            <a:spAutoFit/>
          </a:bodyPr>
          <a:lstStyle/>
          <a:p>
            <a:pPr algn="l">
              <a:spcAft>
                <a:spcPts val="0"/>
              </a:spcAft>
            </a:pPr>
            <a:r>
              <a:rPr sz="1000" b="1" i="0">
                <a:solidFill>
                  <a:srgbClr val="1CB3A6"/>
                </a:solidFill>
                <a:latin typeface="Aptos"/>
              </a:rPr>
              <a:t>RESEARCH INTEGRITY</a:t>
            </a:r>
          </a:p>
        </p:txBody>
      </p:sp>
      <p:sp>
        <p:nvSpPr>
          <p:cNvPr id="3" name="TextBox 2"/>
          <p:cNvSpPr txBox="1"/>
          <p:nvPr/>
        </p:nvSpPr>
        <p:spPr>
          <a:xfrm>
            <a:off x="621792" y="658368"/>
            <a:ext cx="10972800" cy="566928"/>
          </a:xfrm>
          <a:prstGeom prst="rect">
            <a:avLst/>
          </a:prstGeom>
          <a:noFill/>
        </p:spPr>
        <p:txBody>
          <a:bodyPr wrap="square" lIns="36576" tIns="36576" rIns="36576" bIns="36576" anchor="t">
            <a:spAutoFit/>
          </a:bodyPr>
          <a:lstStyle/>
          <a:p>
            <a:pPr algn="l">
              <a:spcAft>
                <a:spcPts val="0"/>
              </a:spcAft>
            </a:pPr>
            <a:r>
              <a:rPr sz="2800" b="1" i="0">
                <a:solidFill>
                  <a:srgbClr val="101F37"/>
                </a:solidFill>
                <a:latin typeface="Aptos"/>
              </a:rPr>
              <a:t>Limitations and next steps</a:t>
            </a:r>
          </a:p>
        </p:txBody>
      </p:sp>
      <p:sp>
        <p:nvSpPr>
          <p:cNvPr id="4" name="TextBox 3"/>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5E6F82"/>
                </a:solidFill>
                <a:latin typeface="Aptos"/>
              </a:rPr>
              <a:t>REDDIT NARRATIVE DECODER  •  RESEARCH PRESENTATION</a:t>
            </a:r>
          </a:p>
        </p:txBody>
      </p:sp>
      <p:sp>
        <p:nvSpPr>
          <p:cNvPr id="5" name="TextBox 4"/>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5E6F82"/>
                </a:solidFill>
                <a:latin typeface="Aptos"/>
              </a:rPr>
              <a:t>13</a:t>
            </a:r>
          </a:p>
        </p:txBody>
      </p:sp>
      <p:sp>
        <p:nvSpPr>
          <p:cNvPr id="6" name="TextBox 5"/>
          <p:cNvSpPr txBox="1"/>
          <p:nvPr/>
        </p:nvSpPr>
        <p:spPr>
          <a:xfrm>
            <a:off x="822960" y="1463040"/>
            <a:ext cx="4754880" cy="365760"/>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Limitations to preserve</a:t>
            </a:r>
          </a:p>
        </p:txBody>
      </p:sp>
      <p:sp>
        <p:nvSpPr>
          <p:cNvPr id="7" name="TextBox 6"/>
          <p:cNvSpPr txBox="1"/>
          <p:nvPr/>
        </p:nvSpPr>
        <p:spPr>
          <a:xfrm>
            <a:off x="868680" y="1938528"/>
            <a:ext cx="4937760" cy="3383280"/>
          </a:xfrm>
          <a:prstGeom prst="rect">
            <a:avLst/>
          </a:prstGeom>
          <a:noFill/>
        </p:spPr>
        <p:txBody>
          <a:bodyPr wrap="square" lIns="27432" tIns="18288" rIns="27432" bIns="18288">
            <a:spAutoFit/>
          </a:bodyPr>
          <a:lstStyle/>
          <a:p>
            <a:pPr>
              <a:spcAft>
                <a:spcPts val="1200"/>
              </a:spcAft>
              <a:defRPr sz="1500">
                <a:solidFill>
                  <a:srgbClr val="1E2B3B"/>
                </a:solidFill>
                <a:latin typeface="Aptos"/>
              </a:defRPr>
            </a:pPr>
            <a:r>
              <a:t>•  Resolve the 848-record difference between Phase 8 and the topic/temporal corpus.</a:t>
            </a:r>
          </a:p>
          <a:p>
            <a:pPr>
              <a:spcAft>
                <a:spcPts val="1200"/>
              </a:spcAft>
              <a:defRPr sz="1500">
                <a:solidFill>
                  <a:srgbClr val="1E2B3B"/>
                </a:solidFill>
                <a:latin typeface="Aptos"/>
              </a:defRPr>
            </a:pPr>
            <a:r>
              <a:t>•  Investigate the 98 master-corpus records absent from processed NLP.</a:t>
            </a:r>
          </a:p>
          <a:p>
            <a:pPr>
              <a:spcAft>
                <a:spcPts val="1200"/>
              </a:spcAft>
              <a:defRPr sz="1500">
                <a:solidFill>
                  <a:srgbClr val="1E2B3B"/>
                </a:solidFill>
                <a:latin typeface="Aptos"/>
              </a:defRPr>
            </a:pPr>
            <a:r>
              <a:t>•  Validate topic labels independently at example level.</a:t>
            </a:r>
          </a:p>
          <a:p>
            <a:pPr>
              <a:spcAft>
                <a:spcPts val="1200"/>
              </a:spcAft>
              <a:defRPr sz="1500">
                <a:solidFill>
                  <a:srgbClr val="1E2B3B"/>
                </a:solidFill>
                <a:latin typeface="Aptos"/>
              </a:defRPr>
            </a:pPr>
            <a:r>
              <a:t>•  Assess model predictions against appropriate ground truth, where feasible.</a:t>
            </a:r>
          </a:p>
        </p:txBody>
      </p:sp>
      <p:sp>
        <p:nvSpPr>
          <p:cNvPr id="8" name="TextBox 7"/>
          <p:cNvSpPr txBox="1"/>
          <p:nvPr/>
        </p:nvSpPr>
        <p:spPr>
          <a:xfrm>
            <a:off x="6309360" y="1463040"/>
            <a:ext cx="4754880" cy="365760"/>
          </a:xfrm>
          <a:prstGeom prst="rect">
            <a:avLst/>
          </a:prstGeom>
          <a:noFill/>
        </p:spPr>
        <p:txBody>
          <a:bodyPr wrap="square" lIns="36576" tIns="36576" rIns="36576" bIns="36576" anchor="t">
            <a:spAutoFit/>
          </a:bodyPr>
          <a:lstStyle/>
          <a:p>
            <a:pPr algn="l">
              <a:spcAft>
                <a:spcPts val="0"/>
              </a:spcAft>
            </a:pPr>
            <a:r>
              <a:rPr sz="1800" b="1" i="0">
                <a:solidFill>
                  <a:srgbClr val="101F37"/>
                </a:solidFill>
                <a:latin typeface="Aptos"/>
              </a:rPr>
              <a:t>Proposed future work</a:t>
            </a:r>
          </a:p>
        </p:txBody>
      </p:sp>
      <p:sp>
        <p:nvSpPr>
          <p:cNvPr id="9" name="TextBox 8"/>
          <p:cNvSpPr txBox="1"/>
          <p:nvPr/>
        </p:nvSpPr>
        <p:spPr>
          <a:xfrm>
            <a:off x="6355080" y="1938528"/>
            <a:ext cx="4892040" cy="3383280"/>
          </a:xfrm>
          <a:prstGeom prst="rect">
            <a:avLst/>
          </a:prstGeom>
          <a:noFill/>
        </p:spPr>
        <p:txBody>
          <a:bodyPr wrap="square" lIns="27432" tIns="18288" rIns="27432" bIns="18288">
            <a:spAutoFit/>
          </a:bodyPr>
          <a:lstStyle/>
          <a:p>
            <a:pPr>
              <a:spcAft>
                <a:spcPts val="1200"/>
              </a:spcAft>
              <a:defRPr sz="1500">
                <a:solidFill>
                  <a:srgbClr val="1E2B3B"/>
                </a:solidFill>
                <a:latin typeface="Aptos"/>
              </a:defRPr>
            </a:pPr>
            <a:r>
              <a:t>•  Improve temporal balance and document collection coverage.</a:t>
            </a:r>
          </a:p>
          <a:p>
            <a:pPr>
              <a:spcAft>
                <a:spcPts val="1200"/>
              </a:spcAft>
              <a:defRPr sz="1500">
                <a:solidFill>
                  <a:srgbClr val="1E2B3B"/>
                </a:solidFill>
                <a:latin typeface="Aptos"/>
              </a:defRPr>
            </a:pPr>
            <a:r>
              <a:t>•  Compare all-corpus topic shares with shares among assigned records.</a:t>
            </a:r>
          </a:p>
          <a:p>
            <a:pPr>
              <a:spcAft>
                <a:spcPts val="1200"/>
              </a:spcAft>
              <a:defRPr sz="1500">
                <a:solidFill>
                  <a:srgbClr val="1E2B3B"/>
                </a:solidFill>
                <a:latin typeface="Aptos"/>
              </a:defRPr>
            </a:pPr>
            <a:r>
              <a:t>•  Disclose unassigned records and small-month instability.</a:t>
            </a:r>
          </a:p>
          <a:p>
            <a:pPr>
              <a:spcAft>
                <a:spcPts val="1200"/>
              </a:spcAft>
              <a:defRPr sz="1500">
                <a:solidFill>
                  <a:srgbClr val="1E2B3B"/>
                </a:solidFill>
                <a:latin typeface="Aptos"/>
              </a:defRPr>
            </a:pPr>
            <a:r>
              <a:t>•  Keep causal and psychological interpretations appropriately cautious.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F37"/>
        </a:solidFill>
        <a:effectLst/>
      </p:bgPr>
    </p:bg>
    <p:spTree>
      <p:nvGrpSpPr>
        <p:cNvPr id="1" name=""/>
        <p:cNvGrpSpPr/>
        <p:nvPr/>
      </p:nvGrpSpPr>
      <p:grpSpPr>
        <a:xfrm>
          <a:off x="0" y="0"/>
          <a:ext cx="0" cy="0"/>
          <a:chOff x="0" y="0"/>
          <a:chExt cx="0" cy="0"/>
        </a:xfrm>
      </p:grpSpPr>
      <p:sp>
        <p:nvSpPr>
          <p:cNvPr id="2" name="TextBox 1"/>
          <p:cNvSpPr txBox="1"/>
          <p:nvPr/>
        </p:nvSpPr>
        <p:spPr>
          <a:xfrm>
            <a:off x="777240" y="749808"/>
            <a:ext cx="3657600" cy="274320"/>
          </a:xfrm>
          <a:prstGeom prst="rect">
            <a:avLst/>
          </a:prstGeom>
          <a:noFill/>
        </p:spPr>
        <p:txBody>
          <a:bodyPr wrap="square" lIns="36576" tIns="36576" rIns="36576" bIns="36576" anchor="t">
            <a:spAutoFit/>
          </a:bodyPr>
          <a:lstStyle/>
          <a:p>
            <a:pPr algn="l">
              <a:spcAft>
                <a:spcPts val="0"/>
              </a:spcAft>
            </a:pPr>
            <a:r>
              <a:rPr sz="1100" b="1" i="0">
                <a:solidFill>
                  <a:srgbClr val="61D3CA"/>
                </a:solidFill>
                <a:latin typeface="Aptos"/>
              </a:rPr>
              <a:t>CONCLUSION</a:t>
            </a:r>
          </a:p>
        </p:txBody>
      </p:sp>
      <p:sp>
        <p:nvSpPr>
          <p:cNvPr id="3" name="TextBox 2"/>
          <p:cNvSpPr txBox="1"/>
          <p:nvPr/>
        </p:nvSpPr>
        <p:spPr>
          <a:xfrm>
            <a:off x="777240" y="1371600"/>
            <a:ext cx="8046720" cy="2011680"/>
          </a:xfrm>
          <a:prstGeom prst="rect">
            <a:avLst/>
          </a:prstGeom>
          <a:noFill/>
        </p:spPr>
        <p:txBody>
          <a:bodyPr wrap="square" lIns="36576" tIns="36576" rIns="36576" bIns="36576" anchor="t">
            <a:spAutoFit/>
          </a:bodyPr>
          <a:lstStyle/>
          <a:p>
            <a:pPr algn="l">
              <a:spcAft>
                <a:spcPts val="0"/>
              </a:spcAft>
            </a:pPr>
            <a:r>
              <a:rPr sz="3200" b="1" i="0">
                <a:solidFill>
                  <a:srgbClr val="FFFFFF"/>
                </a:solidFill>
                <a:latin typeface="Aptos"/>
              </a:rPr>
              <a:t>A reproducible workflow.
Transparent limitations.
Cautious conclusions.</a:t>
            </a:r>
          </a:p>
        </p:txBody>
      </p:sp>
      <p:sp>
        <p:nvSpPr>
          <p:cNvPr id="4" name="TextBox 3"/>
          <p:cNvSpPr txBox="1"/>
          <p:nvPr/>
        </p:nvSpPr>
        <p:spPr>
          <a:xfrm>
            <a:off x="822960" y="3886200"/>
            <a:ext cx="8686800" cy="868680"/>
          </a:xfrm>
          <a:prstGeom prst="rect">
            <a:avLst/>
          </a:prstGeom>
          <a:noFill/>
        </p:spPr>
        <p:txBody>
          <a:bodyPr wrap="square" lIns="36576" tIns="36576" rIns="36576" bIns="36576" anchor="t">
            <a:spAutoFit/>
          </a:bodyPr>
          <a:lstStyle/>
          <a:p>
            <a:pPr algn="l">
              <a:spcAft>
                <a:spcPts val="0"/>
              </a:spcAft>
            </a:pPr>
            <a:r>
              <a:rPr sz="1700" b="0" i="0">
                <a:solidFill>
                  <a:srgbClr val="D3E0EC"/>
                </a:solidFill>
                <a:latin typeface="Aptos"/>
              </a:rPr>
              <a:t>The project integrates sentiment/emotion outputs, linguistic signals, topic structures, statistical comparisons, and audits across four Reddit communities.</a:t>
            </a:r>
          </a:p>
        </p:txBody>
      </p:sp>
      <p:sp>
        <p:nvSpPr>
          <p:cNvPr id="5" name="Rounded Rectangle 4"/>
          <p:cNvSpPr/>
          <p:nvPr/>
        </p:nvSpPr>
        <p:spPr>
          <a:xfrm>
            <a:off x="8823960" y="1600200"/>
            <a:ext cx="2103120" cy="2103120"/>
          </a:xfrm>
          <a:prstGeom prst="roundRect">
            <a:avLst/>
          </a:prstGeom>
          <a:solidFill>
            <a:srgbClr val="182F4D"/>
          </a:solidFill>
          <a:ln>
            <a:solidFill>
              <a:srgbClr val="1CB3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98280" y="2267712"/>
            <a:ext cx="1554480" cy="594360"/>
          </a:xfrm>
          <a:prstGeom prst="rect">
            <a:avLst/>
          </a:prstGeom>
          <a:noFill/>
        </p:spPr>
        <p:txBody>
          <a:bodyPr wrap="square" lIns="36576" tIns="36576" rIns="36576" bIns="36576" anchor="t">
            <a:spAutoFit/>
          </a:bodyPr>
          <a:lstStyle/>
          <a:p>
            <a:pPr algn="ctr">
              <a:spcAft>
                <a:spcPts val="0"/>
              </a:spcAft>
            </a:pPr>
            <a:r>
              <a:rPr sz="3200" b="1" i="0">
                <a:solidFill>
                  <a:srgbClr val="1CB3A6"/>
                </a:solidFill>
                <a:latin typeface="Aptos"/>
              </a:rPr>
              <a:t>Q&amp;A</a:t>
            </a:r>
          </a:p>
        </p:txBody>
      </p:sp>
      <p:sp>
        <p:nvSpPr>
          <p:cNvPr id="7" name="TextBox 6"/>
          <p:cNvSpPr txBox="1"/>
          <p:nvPr/>
        </p:nvSpPr>
        <p:spPr>
          <a:xfrm>
            <a:off x="822960" y="5669280"/>
            <a:ext cx="3200400" cy="365760"/>
          </a:xfrm>
          <a:prstGeom prst="rect">
            <a:avLst/>
          </a:prstGeom>
          <a:noFill/>
        </p:spPr>
        <p:txBody>
          <a:bodyPr wrap="square" lIns="36576" tIns="36576" rIns="36576" bIns="36576" anchor="t">
            <a:spAutoFit/>
          </a:bodyPr>
          <a:lstStyle/>
          <a:p>
            <a:pPr algn="l">
              <a:spcAft>
                <a:spcPts val="0"/>
              </a:spcAft>
            </a:pPr>
            <a:r>
              <a:rPr sz="1900" b="1" i="0">
                <a:solidFill>
                  <a:srgbClr val="F5B142"/>
                </a:solidFill>
                <a:latin typeface="Aptos"/>
              </a:rPr>
              <a:t>Thank you</a:t>
            </a:r>
          </a:p>
        </p:txBody>
      </p:sp>
      <p:sp>
        <p:nvSpPr>
          <p:cNvPr id="8" name="TextBox 7"/>
          <p:cNvSpPr txBox="1"/>
          <p:nvPr/>
        </p:nvSpPr>
        <p:spPr>
          <a:xfrm>
            <a:off x="3657600" y="5687568"/>
            <a:ext cx="4114800" cy="320040"/>
          </a:xfrm>
          <a:prstGeom prst="rect">
            <a:avLst/>
          </a:prstGeom>
          <a:noFill/>
        </p:spPr>
        <p:txBody>
          <a:bodyPr wrap="square" lIns="36576" tIns="36576" rIns="36576" bIns="36576" anchor="t">
            <a:spAutoFit/>
          </a:bodyPr>
          <a:lstStyle/>
          <a:p>
            <a:pPr algn="l">
              <a:spcAft>
                <a:spcPts val="0"/>
              </a:spcAft>
            </a:pPr>
            <a:r>
              <a:rPr sz="1400" b="0" i="0">
                <a:solidFill>
                  <a:srgbClr val="B8CADB"/>
                </a:solidFill>
                <a:latin typeface="Aptos"/>
              </a:rPr>
              <a:t>Questions &amp; Discussion</a:t>
            </a:r>
          </a:p>
        </p:txBody>
      </p:sp>
      <p:sp>
        <p:nvSpPr>
          <p:cNvPr id="9" name="TextBox 8"/>
          <p:cNvSpPr txBox="1"/>
          <p:nvPr/>
        </p:nvSpPr>
        <p:spPr>
          <a:xfrm>
            <a:off x="640080" y="6510528"/>
            <a:ext cx="8229600" cy="164592"/>
          </a:xfrm>
          <a:prstGeom prst="rect">
            <a:avLst/>
          </a:prstGeom>
          <a:noFill/>
        </p:spPr>
        <p:txBody>
          <a:bodyPr wrap="square" lIns="36576" tIns="36576" rIns="36576" bIns="36576" anchor="t">
            <a:spAutoFit/>
          </a:bodyPr>
          <a:lstStyle/>
          <a:p>
            <a:pPr algn="l">
              <a:spcAft>
                <a:spcPts val="0"/>
              </a:spcAft>
            </a:pPr>
            <a:r>
              <a:rPr sz="800" b="1" i="0">
                <a:solidFill>
                  <a:srgbClr val="ABBECF"/>
                </a:solidFill>
                <a:latin typeface="Aptos"/>
              </a:rPr>
              <a:t>REDDIT NARRATIVE DECODER  •  RESEARCH PRESENTATION</a:t>
            </a:r>
          </a:p>
        </p:txBody>
      </p:sp>
      <p:sp>
        <p:nvSpPr>
          <p:cNvPr id="10" name="TextBox 9"/>
          <p:cNvSpPr txBox="1"/>
          <p:nvPr/>
        </p:nvSpPr>
        <p:spPr>
          <a:xfrm>
            <a:off x="11064240" y="6473952"/>
            <a:ext cx="457200" cy="228600"/>
          </a:xfrm>
          <a:prstGeom prst="rect">
            <a:avLst/>
          </a:prstGeom>
          <a:noFill/>
        </p:spPr>
        <p:txBody>
          <a:bodyPr wrap="square" lIns="36576" tIns="36576" rIns="36576" bIns="36576" anchor="t">
            <a:spAutoFit/>
          </a:bodyPr>
          <a:lstStyle/>
          <a:p>
            <a:pPr algn="r">
              <a:spcAft>
                <a:spcPts val="0"/>
              </a:spcAft>
            </a:pPr>
            <a:r>
              <a:rPr sz="900" b="1" i="0">
                <a:solidFill>
                  <a:srgbClr val="ABBECF"/>
                </a:solidFill>
                <a:latin typeface="Apto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1576</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tanuj s</cp:lastModifiedBy>
  <cp:revision>2</cp:revision>
  <dcterms:created xsi:type="dcterms:W3CDTF">2013-01-27T09:14:16Z</dcterms:created>
  <dcterms:modified xsi:type="dcterms:W3CDTF">2026-10-10T06:16:08Z</dcterms:modified>
  <cp:category/>
</cp:coreProperties>
</file>