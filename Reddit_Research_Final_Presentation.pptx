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computational comparison of language and emotion signals across four Reddit communities. Outputs are algorithmic measurements, not psychological diagnoses.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pipeline. Open saved outputs for the demo rather than refitting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transparent. The corpora are not identical and the mismatch has not been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Kappa reflects agreement beyond chance. Agreement is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p-values alongside effect sizes. Reproduction validates calculation consistency against saved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 labels summarize model clusters; five groups remain intentionally unlabelled.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major limitation. Avoid claiming a continuous temporal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Checks establish consistency of saved calculations, not representativeness or causal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contribution: reproducible analysis and auditing with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saved artifacts. Avoid running the entire pipeline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Computational Analysis of Reddit 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Emotional expression • psychological language • topic structure • temporal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Communities: gaming, science, todayilearned, worldnews</a:t>
            </a:r>
          </a:p>
          <a:p>
            <a:pPr>
              <a:spcAft>
                <a:spcPts val="1200"/>
              </a:spcAft>
              <a:defRPr sz="2000"/>
            </a:pPr>
            <a:r>
              <a:t>• Integrated NLP, sentiment/emotion outputs, topic modeling, and statistical comparisons</a:t>
            </a:r>
          </a:p>
          <a:p>
            <a:pPr>
              <a:spcAft>
                <a:spcPts val="1200"/>
              </a:spcAft>
              <a:defRPr sz="2000"/>
            </a:pPr>
            <a:r>
              <a:t>• Focus: reproducible analysis and transparent limitations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Research questions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From text preparation to cross-community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How do sentiment/emotion outputs differ across communities?</a:t>
            </a:r>
          </a:p>
          <a:p>
            <a:pPr>
              <a:spcAft>
                <a:spcPts val="1200"/>
              </a:spcAft>
              <a:defRPr sz="1700"/>
            </a:pPr>
            <a:r>
              <a:t>• How consistent are VADER and transformer emotion predictions?</a:t>
            </a:r>
          </a:p>
          <a:p>
            <a:pPr>
              <a:spcAft>
                <a:spcPts val="1200"/>
              </a:spcAft>
              <a:defRPr sz="1700"/>
            </a:pPr>
            <a:r>
              <a:t>• What candidate themes emerge from topic modeling?</a:t>
            </a:r>
          </a:p>
          <a:p>
            <a:pPr>
              <a:spcAft>
                <a:spcPts val="1200"/>
              </a:spcAft>
              <a:defRPr sz="1700"/>
            </a:pPr>
            <a:r>
              <a:t>• Does temporal coverage support narrative-evolution claims?</a:t>
            </a:r>
          </a:p>
          <a:p>
            <a:pPr>
              <a:spcAft>
                <a:spcPts val="1200"/>
              </a:spcAft>
              <a:defRPr sz="1700"/>
            </a:pPr>
            <a:r>
              <a:t>• Workflow: cleaned corpus → NLP features → emotion/sentiment → statistics/topic modeling → audits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coverage: two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Important dataset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Master corpus: 4,972 records</a:t>
            </a:r>
          </a:p>
          <a:p>
            <a:pPr>
              <a:spcAft>
                <a:spcPts val="1200"/>
              </a:spcAft>
              <a:defRPr sz="1700"/>
            </a:pPr>
            <a:r>
              <a:t>• Processed NLP / Phase 8 corpus: 4,874 records</a:t>
            </a:r>
          </a:p>
          <a:p>
            <a:pPr>
              <a:spcAft>
                <a:spcPts val="1200"/>
              </a:spcAft>
              <a:defRPr sz="1700"/>
            </a:pPr>
            <a:r>
              <a:t>• Topic/temporal corpus: 4,026 records</a:t>
            </a:r>
          </a:p>
          <a:p>
            <a:pPr>
              <a:spcAft>
                <a:spcPts val="1200"/>
              </a:spcAft>
              <a:defRPr sz="1700"/>
            </a:pPr>
            <a:r>
              <a:t>• 848 IDs differ between processed NLP and topic-modeling corpora; unresolved</a:t>
            </a:r>
          </a:p>
          <a:p>
            <a:pPr>
              <a:spcAft>
                <a:spcPts val="1200"/>
              </a:spcAft>
              <a:defRPr sz="1700"/>
            </a:pPr>
            <a:r>
              <a:t>• 98 master records are absent from processed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Emotion agreement by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VADER versus transformer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gaming: 70.84% agreement; κ = 0.346</a:t>
            </a:r>
          </a:p>
          <a:p>
            <a:pPr>
              <a:spcAft>
                <a:spcPts val="1200"/>
              </a:spcAft>
              <a:defRPr sz="1700"/>
            </a:pPr>
            <a:r>
              <a:t>• science: 63.16%; κ = 0.191</a:t>
            </a:r>
          </a:p>
          <a:p>
            <a:pPr>
              <a:spcAft>
                <a:spcPts val="1200"/>
              </a:spcAft>
              <a:defRPr sz="1700"/>
            </a:pPr>
            <a:r>
              <a:t>• todayilearned: 68.32%; κ = 0.301</a:t>
            </a:r>
          </a:p>
          <a:p>
            <a:pPr>
              <a:spcAft>
                <a:spcPts val="1200"/>
              </a:spcAft>
              <a:defRPr sz="1700"/>
            </a:pPr>
            <a:r>
              <a:t>• worldnews: 67.78%; κ = 0.249</a:t>
            </a:r>
          </a:p>
          <a:p>
            <a:pPr>
              <a:spcAft>
                <a:spcPts val="1200"/>
              </a:spcAft>
              <a:defRPr sz="1700"/>
            </a:pPr>
            <a:r>
              <a:t>• Agreement is modest; neither model is ground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Statistical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Reproduced from saved analytical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Agreement association: χ² = 11.646, df = 3, p = 0.008699, V = 0.04888</a:t>
            </a:r>
          </a:p>
          <a:p>
            <a:pPr>
              <a:spcAft>
                <a:spcPts val="1200"/>
              </a:spcAft>
              <a:defRPr sz="1700"/>
            </a:pPr>
            <a:r>
              <a:t>• Emotion-label distribution: χ² = 87.778, df = 18, p = 3.609 × 10⁻¹¹, V = 0.07748</a:t>
            </a:r>
          </a:p>
          <a:p>
            <a:pPr>
              <a:spcAft>
                <a:spcPts val="1200"/>
              </a:spcAft>
              <a:defRPr sz="1700"/>
            </a:pPr>
            <a:r>
              <a:t>• 25 Kruskal–Wallis tests and 150 pairwise comparisons independently reproduced</a:t>
            </a:r>
          </a:p>
          <a:p>
            <a:pPr>
              <a:spcAft>
                <a:spcPts val="1200"/>
              </a:spcAft>
              <a:defRPr sz="1700"/>
            </a:pPr>
            <a:r>
              <a:t>• 22/25 omnibus and 91/150 pairwise tests significant after Holm adjustment</a:t>
            </a:r>
          </a:p>
          <a:p>
            <a:pPr>
              <a:spcAft>
                <a:spcPts val="1200"/>
              </a:spcAft>
              <a:defRPr sz="1700"/>
            </a:pPr>
            <a:r>
              <a:t>• Effect sizes generally small; significance is not causality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Topic modeling and label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Candidate themes, not ground-truth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40 model/community/topic groups in dictionary</a:t>
            </a:r>
          </a:p>
          <a:p>
            <a:pPr>
              <a:spcAft>
                <a:spcPts val="1200"/>
              </a:spcAft>
              <a:defRPr sz="1700"/>
            </a:pPr>
            <a:r>
              <a:t>• 5 groups remain do_not_label</a:t>
            </a:r>
          </a:p>
          <a:p>
            <a:pPr>
              <a:spcAft>
                <a:spcPts val="1200"/>
              </a:spcAft>
              <a:defRPr sz="1700"/>
            </a:pPr>
            <a:r>
              <a:t>• No missing labels or exact duplicate labels found in quality audit</a:t>
            </a:r>
          </a:p>
          <a:p>
            <a:pPr>
              <a:spcAft>
                <a:spcPts val="1200"/>
              </a:spcAft>
              <a:defRPr sz="1700"/>
            </a:pPr>
            <a:r>
              <a:t>• Two lexically similar label pairs flagged</a:t>
            </a:r>
          </a:p>
          <a:p>
            <a:pPr>
              <a:spcAft>
                <a:spcPts val="1200"/>
              </a:spcAft>
              <a:defRPr sz="1700"/>
            </a:pPr>
            <a:r>
              <a:t>• Batch approval is not independent human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Temporal audit: major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Timeline is heavily imbalanced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4,026 unique topic records; dates span Oct 2014–Feb 2016</a:t>
            </a:r>
          </a:p>
          <a:p>
            <a:pPr>
              <a:spcAft>
                <a:spcPts val="1200"/>
              </a:spcAft>
              <a:defRPr sz="2000"/>
            </a:pPr>
            <a:r>
              <a:t>• Only 10 of 17 months contain records</a:t>
            </a:r>
          </a:p>
          <a:p>
            <a:pPr>
              <a:spcAft>
                <a:spcPts val="1200"/>
              </a:spcAft>
              <a:defRPr sz="2000"/>
            </a:pPr>
            <a:r>
              <a:t>• February 2016: 3,899 / 4,026 records = 96.85%</a:t>
            </a:r>
          </a:p>
          <a:p>
            <a:pPr>
              <a:spcAft>
                <a:spcPts val="1200"/>
              </a:spcAft>
              <a:defRPr sz="2000"/>
            </a:pPr>
            <a:r>
              <a:t>• Current data do not establish robust month-to-month narrative evolution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Validation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What the audit can—and cannot—say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25/25 Kruskal–Wallis reproductions passed</a:t>
            </a:r>
          </a:p>
          <a:p>
            <a:pPr>
              <a:spcAft>
                <a:spcPts val="1200"/>
              </a:spcAft>
              <a:defRPr sz="1700"/>
            </a:pPr>
            <a:r>
              <a:t>• 150/150 pairwise reproductions passed</a:t>
            </a:r>
          </a:p>
          <a:p>
            <a:pPr>
              <a:spcAft>
                <a:spcPts val="1200"/>
              </a:spcAft>
              <a:defRPr sz="1700"/>
            </a:pPr>
            <a:r>
              <a:t>• Saved p-value adjustments and monthly prevalence calculations passed checks</a:t>
            </a:r>
          </a:p>
          <a:p>
            <a:pPr>
              <a:spcAft>
                <a:spcPts val="1200"/>
              </a:spcAft>
              <a:defRPr sz="1700"/>
            </a:pPr>
            <a:r>
              <a:t>• Corpus mismatch unresolved; model outputs are not ground truth</a:t>
            </a:r>
          </a:p>
          <a:p>
            <a:pPr>
              <a:spcAft>
                <a:spcPts val="1200"/>
              </a:spcAft>
              <a:defRPr sz="1700"/>
            </a:pPr>
            <a:r>
              <a:t>• Observational associations do not establish causality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 reproducible pipeline with transparent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Cross-community descriptive comparisons are feasible</a:t>
            </a:r>
          </a:p>
          <a:p>
            <a:pPr>
              <a:spcAft>
                <a:spcPts val="1200"/>
              </a:spcAft>
              <a:defRPr sz="1700"/>
            </a:pPr>
            <a:r>
              <a:t>• Emotion model agreement is imperfect and effects are mostly small</a:t>
            </a:r>
          </a:p>
          <a:p>
            <a:pPr>
              <a:spcAft>
                <a:spcPts val="1200"/>
              </a:spcAft>
              <a:defRPr sz="1700"/>
            </a:pPr>
            <a:r>
              <a:t>• Topic labels remain provisional and model-dependent</a:t>
            </a:r>
          </a:p>
          <a:p>
            <a:pPr>
              <a:spcAft>
                <a:spcPts val="1200"/>
              </a:spcAft>
              <a:defRPr sz="1700"/>
            </a:pPr>
            <a:r>
              <a:t>• Temporal claims require a more balanced, verified corpus</a:t>
            </a:r>
          </a:p>
          <a:p>
            <a:pPr>
              <a:spcAft>
                <a:spcPts val="1200"/>
              </a:spcAft>
              <a:defRPr sz="1700"/>
            </a:pPr>
            <a:r>
              <a:t>• Next: reconcile IDs, validate labels independently, improve time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Show actual saved project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Show project folder and submission ZIP</a:t>
            </a:r>
          </a:p>
          <a:p>
            <a:pPr>
              <a:spcAft>
                <a:spcPts val="1200"/>
              </a:spcAft>
              <a:defRPr sz="1700"/>
            </a:pPr>
            <a:r>
              <a:t>• Open consolidated research results</a:t>
            </a:r>
          </a:p>
          <a:p>
            <a:pPr>
              <a:spcAft>
                <a:spcPts val="1200"/>
              </a:spcAft>
              <a:defRPr sz="1700"/>
            </a:pPr>
            <a:r>
              <a:t>• Show statistical reproduction CSVs and PASS results</a:t>
            </a:r>
          </a:p>
          <a:p>
            <a:pPr>
              <a:spcAft>
                <a:spcPts val="1200"/>
              </a:spcAft>
              <a:defRPr sz="1700"/>
            </a:pPr>
            <a:r>
              <a:t>• Show do_not_label topic groups</a:t>
            </a:r>
          </a:p>
          <a:p>
            <a:pPr>
              <a:spcAft>
                <a:spcPts val="1200"/>
              </a:spcAft>
              <a:defRPr sz="1700"/>
            </a:pPr>
            <a:r>
              <a:t>• Show temporal audit and February 2016 concentration</a:t>
            </a:r>
          </a:p>
          <a:p>
            <a:pPr>
              <a:spcAft>
                <a:spcPts val="1200"/>
              </a:spcAft>
              <a:defRPr sz="1700"/>
            </a:pPr>
            <a:r>
              <a:t>• Finish with final PDF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